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my name is Gary Kocsis, and I'm excited to present RangeGuard — Protect your liquidity. Guard your range. As many of you know, impermanent loss is the single biggest reason liquidity providers leave AMMs. Even with fee rewards, most LPs lose money when prices move — and there's no native, on-chain way to protect them. Until 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RangeGuard brings native, transparent IL coverage directly into a Uniswap v4 pool. When an LP provides liquidity, they start earning coverage — but only while their position is in range and exposed to IL risk. Coverage accrues using a day-count convention — just like traditional finance — so LPs can see exactly how much protection they're earning and compare it across pools. The coverage buffer is funded by a small configurable portion of trading fees via Uniswap v4's dynamic fee system — sustainable, no external subsidies. When an LP withdraws, the hook automatically calculates their impermanent loss and pays out a capped reimbursement — bounded by what they've earned, the buffer's health, and protocol parameters. And the system runs autonomously. RangeGuard integrates with the Reactive Network — a cross-chain automation layer running on Lasna — so range transitions are detected and recorded automatically. No keeper bots. No off-chain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economics are self-sustaining. LPs provide liquidity, traders use the pool, swaps generate fees, a buffer slice is skimmed that funds the coverage buffer, and the buffer pays capped IL claims. The buffer grows from the same swap activity that LP liquidity enables. No external capital required.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RangeGuard is built on five pillars. Accrual gating — coverage only earns while in range. Buffer funding — every swap contributes automatically. Claim settlement — IL is computed and paid in the same withdrawal transaction, capped by three limits: covered IL, earned coverage, and buffer capacity. LP transparency — the key differentiator — a verifiable day-by-day coverage statement from pure on-chain events. And pool configuration — immutable parameters, so LPs always know what they signed up for.</a:t>
            </a:r>
          </a:p>
          <a:p/>
          <a:p>
            <a:r>
              <a:t>Verbal transition: Let me show you the core functions that make this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demo, here's the core code path. _accrue advances coverage lazily — only while in range, using Actual/365 Fixed day-count math. _computePayout applies three caps in order. The day-count convention turns coverage from a black-box reward into an auditable financial accrual. Let me show you.</a:t>
            </a:r>
          </a:p>
          <a:p/>
          <a:p>
            <a:r>
              <a:t>IDE narration — _accrue: range gate first — if the tick is outside the LP's bounds, delta is zero. If in range — year fraction from day-count basis, multiplied by entry notional and APR. Fifteen days in range earns exactly 15/365 of the annual coverage amount. _computePayout: three caps in order — IL cap, earned coverage cap, buffer cap. Minimum of all three. Limiting factor is recorded so the LP knows exactly why they received what they received.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RangeGuard makes providing liquidity safer, more transparent, and more attractive — helping Uniswap pools retain and grow their LP base. The primary beneficiaries are passive LPs who get downside protection without complex hedging. But the impact extends to protocols that need sticky liquidity without emissions, and to the broader ecosystem through deeper pools and better execution. Earned over time. Funded by swaps. Settled on-chain. Live dashboard at range-guard.vercel.app. Full source and 292 passing tests on GitHub.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con.png"/>
          <p:cNvPicPr>
            <a:picLocks noChangeAspect="1"/>
          </p:cNvPicPr>
          <p:nvPr/>
        </p:nvPicPr>
        <p:blipFill>
          <a:blip r:embed="rId2"/>
          <a:stretch>
            <a:fillRect/>
          </a:stretch>
        </p:blipFill>
        <p:spPr>
          <a:xfrm>
            <a:off x="5410047" y="914400"/>
            <a:ext cx="1371600" cy="1371600"/>
          </a:xfrm>
          <a:prstGeom prst="rect">
            <a:avLst/>
          </a:prstGeom>
          <a:ln>
            <a:noFill/>
          </a:ln>
          <a:effectLst/>
        </p:spPr>
      </p:pic>
      <p:sp>
        <p:nvSpPr>
          <p:cNvPr id="4" name="TextBox 3"/>
          <p:cNvSpPr txBox="1"/>
          <p:nvPr/>
        </p:nvSpPr>
        <p:spPr>
          <a:xfrm>
            <a:off x="914400" y="2487168"/>
            <a:ext cx="10360152" cy="868680"/>
          </a:xfrm>
          <a:prstGeom prst="rect">
            <a:avLst/>
          </a:prstGeom>
          <a:noFill/>
        </p:spPr>
        <p:txBody>
          <a:bodyPr wrap="square" anchor="t" lIns="0" rIns="0" tIns="0" bIns="0">
            <a:spAutoFit/>
          </a:bodyPr>
          <a:lstStyle/>
          <a:p>
            <a:pPr algn="ctr"/>
            <a:r>
              <a:rPr sz="4800" b="1" i="0">
                <a:solidFill>
                  <a:srgbClr val="FFFFFF"/>
                </a:solidFill>
                <a:latin typeface="Calibri"/>
              </a:rPr>
              <a:t>RangeGuard</a:t>
            </a:r>
          </a:p>
        </p:txBody>
      </p:sp>
      <p:sp>
        <p:nvSpPr>
          <p:cNvPr id="5" name="TextBox 4"/>
          <p:cNvSpPr txBox="1"/>
          <p:nvPr/>
        </p:nvSpPr>
        <p:spPr>
          <a:xfrm>
            <a:off x="914400" y="3456432"/>
            <a:ext cx="10360152" cy="457200"/>
          </a:xfrm>
          <a:prstGeom prst="rect">
            <a:avLst/>
          </a:prstGeom>
          <a:noFill/>
        </p:spPr>
        <p:txBody>
          <a:bodyPr wrap="square" anchor="t" lIns="0" rIns="0" tIns="0" bIns="0">
            <a:spAutoFit/>
          </a:bodyPr>
          <a:lstStyle/>
          <a:p>
            <a:pPr algn="ctr"/>
            <a:r>
              <a:rPr sz="2000" b="0" i="0">
                <a:solidFill>
                  <a:srgbClr val="94A3B8"/>
                </a:solidFill>
                <a:latin typeface="Calibri"/>
              </a:rPr>
              <a:t>Protect your liquidity. Guard your range.</a:t>
            </a:r>
          </a:p>
        </p:txBody>
      </p:sp>
      <p:sp>
        <p:nvSpPr>
          <p:cNvPr id="6" name="TextBox 5"/>
          <p:cNvSpPr txBox="1"/>
          <p:nvPr/>
        </p:nvSpPr>
        <p:spPr>
          <a:xfrm>
            <a:off x="914400" y="4224528"/>
            <a:ext cx="10360152" cy="868680"/>
          </a:xfrm>
          <a:prstGeom prst="rect">
            <a:avLst/>
          </a:prstGeom>
          <a:noFill/>
        </p:spPr>
        <p:txBody>
          <a:bodyPr wrap="square" anchor="t" lIns="0" rIns="0" tIns="0" bIns="0">
            <a:spAutoFit/>
          </a:bodyPr>
          <a:lstStyle/>
          <a:p>
            <a:pPr algn="ctr">
              <a:spcAft>
                <a:spcPts val="300"/>
              </a:spcAft>
            </a:pPr>
            <a:r>
              <a:rPr sz="2200" b="1" i="0">
                <a:solidFill>
                  <a:srgbClr val="FFFFFF"/>
                </a:solidFill>
                <a:latin typeface="Calibri"/>
              </a:rPr>
              <a:t>Gary Kocsis</a:t>
            </a:r>
          </a:p>
          <a:p>
            <a:pPr algn="ctr"/>
            <a:r>
              <a:rPr sz="1600" b="0" i="0">
                <a:solidFill>
                  <a:srgbClr val="94A3B8"/>
                </a:solidFill>
                <a:latin typeface="Calibri"/>
              </a:rPr>
              <a:t>Uniswap Hook Incubator</a:t>
            </a:r>
          </a:p>
        </p:txBody>
      </p:sp>
      <p:sp>
        <p:nvSpPr>
          <p:cNvPr id="7" name="TextBox 6"/>
          <p:cNvSpPr txBox="1"/>
          <p:nvPr/>
        </p:nvSpPr>
        <p:spPr>
          <a:xfrm>
            <a:off x="4082453" y="5646420"/>
            <a:ext cx="782320" cy="320040"/>
          </a:xfrm>
          <a:prstGeom prst="rect">
            <a:avLst/>
          </a:prstGeom>
          <a:noFill/>
        </p:spPr>
        <p:txBody>
          <a:bodyPr wrap="none" anchor="ctr" lIns="0" rIns="0" tIns="0" bIns="0">
            <a:spAutoFit/>
          </a:bodyPr>
          <a:lstStyle/>
          <a:p>
            <a:pPr algn="l"/>
            <a:r>
              <a:rPr sz="1400" b="0" i="0">
                <a:solidFill>
                  <a:srgbClr val="94A3B8"/>
                </a:solidFill>
                <a:latin typeface="Calibri"/>
              </a:rPr>
              <a:t>Built on</a:t>
            </a:r>
          </a:p>
        </p:txBody>
      </p:sp>
      <p:pic>
        <p:nvPicPr>
          <p:cNvPr id="8" name="Picture 7" descr="uniswap-logo.png"/>
          <p:cNvPicPr>
            <a:picLocks noChangeAspect="1"/>
          </p:cNvPicPr>
          <p:nvPr/>
        </p:nvPicPr>
        <p:blipFill>
          <a:blip r:embed="rId3"/>
          <a:stretch>
            <a:fillRect/>
          </a:stretch>
        </p:blipFill>
        <p:spPr>
          <a:xfrm>
            <a:off x="4974501" y="5650992"/>
            <a:ext cx="310896" cy="310896"/>
          </a:xfrm>
          <a:prstGeom prst="rect">
            <a:avLst/>
          </a:prstGeom>
          <a:ln>
            <a:noFill/>
          </a:ln>
          <a:effectLst/>
        </p:spPr>
      </p:pic>
      <p:sp>
        <p:nvSpPr>
          <p:cNvPr id="9" name="TextBox 8"/>
          <p:cNvSpPr txBox="1"/>
          <p:nvPr/>
        </p:nvSpPr>
        <p:spPr>
          <a:xfrm>
            <a:off x="5486565" y="5600700"/>
            <a:ext cx="233172" cy="411480"/>
          </a:xfrm>
          <a:prstGeom prst="rect">
            <a:avLst/>
          </a:prstGeom>
          <a:noFill/>
        </p:spPr>
        <p:txBody>
          <a:bodyPr wrap="none" anchor="ctr" lIns="0" rIns="0" tIns="0" bIns="0">
            <a:spAutoFit/>
          </a:bodyPr>
          <a:lstStyle/>
          <a:p>
            <a:pPr algn="l"/>
            <a:r>
              <a:rPr sz="1800" b="0" i="0">
                <a:solidFill>
                  <a:srgbClr val="94A3B8"/>
                </a:solidFill>
                <a:latin typeface="Calibri"/>
              </a:rPr>
              <a:t>·</a:t>
            </a:r>
          </a:p>
        </p:txBody>
      </p:sp>
      <p:sp>
        <p:nvSpPr>
          <p:cNvPr id="10" name="TextBox 9"/>
          <p:cNvSpPr txBox="1"/>
          <p:nvPr/>
        </p:nvSpPr>
        <p:spPr>
          <a:xfrm>
            <a:off x="5829465" y="5646420"/>
            <a:ext cx="945896" cy="320040"/>
          </a:xfrm>
          <a:prstGeom prst="rect">
            <a:avLst/>
          </a:prstGeom>
          <a:noFill/>
        </p:spPr>
        <p:txBody>
          <a:bodyPr wrap="none" anchor="ctr" lIns="0" rIns="0" tIns="0" bIns="0">
            <a:spAutoFit/>
          </a:bodyPr>
          <a:lstStyle/>
          <a:p>
            <a:pPr algn="l"/>
            <a:r>
              <a:rPr sz="1400" b="0" i="0">
                <a:solidFill>
                  <a:srgbClr val="94A3B8"/>
                </a:solidFill>
                <a:latin typeface="Calibri"/>
              </a:rPr>
              <a:t>Powered by</a:t>
            </a:r>
          </a:p>
        </p:txBody>
      </p:sp>
      <p:pic>
        <p:nvPicPr>
          <p:cNvPr id="11" name="Picture 10" descr="reactive-logo.png"/>
          <p:cNvPicPr>
            <a:picLocks noChangeAspect="1"/>
          </p:cNvPicPr>
          <p:nvPr/>
        </p:nvPicPr>
        <p:blipFill>
          <a:blip r:embed="rId4"/>
          <a:stretch>
            <a:fillRect/>
          </a:stretch>
        </p:blipFill>
        <p:spPr>
          <a:xfrm>
            <a:off x="6885089" y="5669279"/>
            <a:ext cx="1224153" cy="274320"/>
          </a:xfrm>
          <a:prstGeom prst="rect">
            <a:avLst/>
          </a:prstGeom>
          <a:ln>
            <a:noFill/>
          </a:ln>
          <a:effectLst/>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20624"/>
            <a:ext cx="5486400" cy="365760"/>
          </a:xfrm>
          <a:prstGeom prst="rect">
            <a:avLst/>
          </a:prstGeom>
          <a:noFill/>
        </p:spPr>
        <p:txBody>
          <a:bodyPr wrap="square" anchor="t" lIns="0" rIns="0" tIns="0" bIns="0">
            <a:spAutoFit/>
          </a:bodyPr>
          <a:lstStyle/>
          <a:p>
            <a:pPr algn="l"/>
            <a:r>
              <a:rPr sz="1300" b="1" i="0">
                <a:solidFill>
                  <a:srgbClr val="00D395"/>
                </a:solidFill>
                <a:latin typeface="Calibri"/>
              </a:rPr>
              <a:t>THE SOLUTION</a:t>
            </a:r>
          </a:p>
        </p:txBody>
      </p:sp>
      <p:pic>
        <p:nvPicPr>
          <p:cNvPr id="4" name="Picture 3" descr="logo-icon.png"/>
          <p:cNvPicPr>
            <a:picLocks noChangeAspect="1"/>
          </p:cNvPicPr>
          <p:nvPr/>
        </p:nvPicPr>
        <p:blipFill>
          <a:blip r:embed="rId2"/>
          <a:stretch>
            <a:fillRect/>
          </a:stretch>
        </p:blipFill>
        <p:spPr>
          <a:xfrm>
            <a:off x="457200" y="365760"/>
            <a:ext cx="274320" cy="274320"/>
          </a:xfrm>
          <a:prstGeom prst="rect">
            <a:avLst/>
          </a:prstGeom>
          <a:ln>
            <a:noFill/>
          </a:ln>
          <a:effectLst/>
        </p:spPr>
      </p:pic>
      <p:sp>
        <p:nvSpPr>
          <p:cNvPr id="5" name="TextBox 4"/>
          <p:cNvSpPr txBox="1"/>
          <p:nvPr/>
        </p:nvSpPr>
        <p:spPr>
          <a:xfrm>
            <a:off x="914400" y="960120"/>
            <a:ext cx="10360152" cy="1097280"/>
          </a:xfrm>
          <a:prstGeom prst="rect">
            <a:avLst/>
          </a:prstGeom>
          <a:noFill/>
        </p:spPr>
        <p:txBody>
          <a:bodyPr wrap="square" anchor="t" lIns="0" rIns="0" tIns="0" bIns="0">
            <a:spAutoFit/>
          </a:bodyPr>
          <a:lstStyle/>
          <a:p>
            <a:pPr algn="ctr"/>
            <a:r>
              <a:rPr sz="3000" b="1" i="0">
                <a:solidFill>
                  <a:srgbClr val="FFFFFF"/>
                </a:solidFill>
                <a:latin typeface="Calibri"/>
              </a:rPr>
              <a:t>RangeGuard turns impermanent loss</a:t>
            </a:r>
          </a:p>
          <a:p>
            <a:pPr algn="ctr"/>
            <a:r>
              <a:rPr sz="3000" b="1" i="0">
                <a:solidFill>
                  <a:srgbClr val="FFFFFF"/>
                </a:solidFill>
                <a:latin typeface="Calibri"/>
              </a:rPr>
              <a:t>into an earned, capped, on-chain claim.</a:t>
            </a:r>
          </a:p>
        </p:txBody>
      </p:sp>
      <p:sp>
        <p:nvSpPr>
          <p:cNvPr id="6" name="TextBox 5"/>
          <p:cNvSpPr txBox="1"/>
          <p:nvPr/>
        </p:nvSpPr>
        <p:spPr>
          <a:xfrm>
            <a:off x="1371600" y="2331720"/>
            <a:ext cx="9601200" cy="713232"/>
          </a:xfrm>
          <a:prstGeom prst="rect">
            <a:avLst/>
          </a:prstGeom>
          <a:noFill/>
        </p:spPr>
        <p:txBody>
          <a:bodyPr wrap="square" anchor="t" lIns="0" rIns="0" tIns="0" bIns="0">
            <a:spAutoFit/>
          </a:bodyPr>
          <a:lstStyle/>
          <a:p>
            <a:pPr algn="l"/>
            <a:r>
              <a:rPr sz="1700" b="1" i="0">
                <a:solidFill>
                  <a:srgbClr val="00D395"/>
                </a:solidFill>
                <a:latin typeface="Calibri"/>
              </a:rPr>
              <a:t>▸  </a:t>
            </a:r>
            <a:r>
              <a:rPr sz="1700" b="1" i="0">
                <a:solidFill>
                  <a:srgbClr val="FFFFFF"/>
                </a:solidFill>
                <a:latin typeface="Calibri"/>
              </a:rPr>
              <a:t>Coverage accrues only while in range —</a:t>
            </a:r>
          </a:p>
          <a:p>
            <a:pPr algn="l">
              <a:spcBef>
                <a:spcPts val="100"/>
              </a:spcBef>
            </a:pPr>
            <a:r>
              <a:rPr sz="1500" b="0" i="0">
                <a:solidFill>
                  <a:srgbClr val="94A3B8"/>
                </a:solidFill>
                <a:latin typeface="Calibri"/>
              </a:rPr>
              <a:t>     exposure-weighted, not time-weighted</a:t>
            </a:r>
          </a:p>
        </p:txBody>
      </p:sp>
      <p:sp>
        <p:nvSpPr>
          <p:cNvPr id="7" name="TextBox 6"/>
          <p:cNvSpPr txBox="1"/>
          <p:nvPr/>
        </p:nvSpPr>
        <p:spPr>
          <a:xfrm>
            <a:off x="1371600" y="3081527"/>
            <a:ext cx="9601200" cy="713232"/>
          </a:xfrm>
          <a:prstGeom prst="rect">
            <a:avLst/>
          </a:prstGeom>
          <a:noFill/>
        </p:spPr>
        <p:txBody>
          <a:bodyPr wrap="square" anchor="t" lIns="0" rIns="0" tIns="0" bIns="0">
            <a:spAutoFit/>
          </a:bodyPr>
          <a:lstStyle/>
          <a:p>
            <a:pPr algn="l"/>
            <a:r>
              <a:rPr sz="1700" b="1" i="0">
                <a:solidFill>
                  <a:srgbClr val="00D395"/>
                </a:solidFill>
                <a:latin typeface="Calibri"/>
              </a:rPr>
              <a:t>▸  </a:t>
            </a:r>
            <a:r>
              <a:rPr sz="1700" b="1" i="0">
                <a:solidFill>
                  <a:srgbClr val="FFFFFF"/>
                </a:solidFill>
                <a:latin typeface="Calibri"/>
              </a:rPr>
              <a:t>Day-count convention (Actual/365 Fixed) —</a:t>
            </a:r>
          </a:p>
          <a:p>
            <a:pPr algn="l">
              <a:spcBef>
                <a:spcPts val="100"/>
              </a:spcBef>
            </a:pPr>
            <a:r>
              <a:rPr sz="1500" b="0" i="0">
                <a:solidFill>
                  <a:srgbClr val="94A3B8"/>
                </a:solidFill>
                <a:latin typeface="Calibri"/>
              </a:rPr>
              <a:t>     predictable, auditable, comparable across pools</a:t>
            </a:r>
          </a:p>
        </p:txBody>
      </p:sp>
      <p:sp>
        <p:nvSpPr>
          <p:cNvPr id="8" name="TextBox 7"/>
          <p:cNvSpPr txBox="1"/>
          <p:nvPr/>
        </p:nvSpPr>
        <p:spPr>
          <a:xfrm>
            <a:off x="1371600" y="3831335"/>
            <a:ext cx="9601200" cy="713232"/>
          </a:xfrm>
          <a:prstGeom prst="rect">
            <a:avLst/>
          </a:prstGeom>
          <a:noFill/>
        </p:spPr>
        <p:txBody>
          <a:bodyPr wrap="square" anchor="t" lIns="0" rIns="0" tIns="0" bIns="0">
            <a:spAutoFit/>
          </a:bodyPr>
          <a:lstStyle/>
          <a:p>
            <a:pPr algn="l"/>
            <a:r>
              <a:rPr sz="1700" b="1" i="0">
                <a:solidFill>
                  <a:srgbClr val="00D395"/>
                </a:solidFill>
                <a:latin typeface="Calibri"/>
              </a:rPr>
              <a:t>▸  </a:t>
            </a:r>
            <a:r>
              <a:rPr sz="1700" b="1" i="0">
                <a:solidFill>
                  <a:srgbClr val="FFFFFF"/>
                </a:solidFill>
                <a:latin typeface="Calibri"/>
              </a:rPr>
              <a:t>Buffer funded by dynamic fee skimming —</a:t>
            </a:r>
          </a:p>
          <a:p>
            <a:pPr algn="l">
              <a:spcBef>
                <a:spcPts val="100"/>
              </a:spcBef>
            </a:pPr>
            <a:r>
              <a:rPr sz="1500" b="0" i="0">
                <a:solidFill>
                  <a:srgbClr val="94A3B8"/>
                </a:solidFill>
                <a:latin typeface="Calibri"/>
              </a:rPr>
              <a:t>     sustainable, no external subsidies</a:t>
            </a:r>
          </a:p>
        </p:txBody>
      </p:sp>
      <p:sp>
        <p:nvSpPr>
          <p:cNvPr id="9" name="TextBox 8"/>
          <p:cNvSpPr txBox="1"/>
          <p:nvPr/>
        </p:nvSpPr>
        <p:spPr>
          <a:xfrm>
            <a:off x="1371600" y="4581144"/>
            <a:ext cx="9601200" cy="713232"/>
          </a:xfrm>
          <a:prstGeom prst="rect">
            <a:avLst/>
          </a:prstGeom>
          <a:noFill/>
        </p:spPr>
        <p:txBody>
          <a:bodyPr wrap="square" anchor="t" lIns="0" rIns="0" tIns="0" bIns="0">
            <a:spAutoFit/>
          </a:bodyPr>
          <a:lstStyle/>
          <a:p>
            <a:pPr algn="l"/>
            <a:r>
              <a:rPr sz="1700" b="1" i="0">
                <a:solidFill>
                  <a:srgbClr val="00D395"/>
                </a:solidFill>
                <a:latin typeface="Calibri"/>
              </a:rPr>
              <a:t>▸  </a:t>
            </a:r>
            <a:r>
              <a:rPr sz="1700" b="1" i="0">
                <a:solidFill>
                  <a:srgbClr val="FFFFFF"/>
                </a:solidFill>
                <a:latin typeface="Calibri"/>
              </a:rPr>
              <a:t>Automatic payout on withdrawal —</a:t>
            </a:r>
          </a:p>
          <a:p>
            <a:pPr algn="l">
              <a:spcBef>
                <a:spcPts val="100"/>
              </a:spcBef>
            </a:pPr>
            <a:r>
              <a:rPr sz="1500" b="0" i="0">
                <a:solidFill>
                  <a:srgbClr val="94A3B8"/>
                </a:solidFill>
                <a:latin typeface="Calibri"/>
              </a:rPr>
              <a:t>     capped by earned coverage, buffer health, and protocol params</a:t>
            </a:r>
          </a:p>
        </p:txBody>
      </p:sp>
      <p:sp>
        <p:nvSpPr>
          <p:cNvPr id="10" name="TextBox 9"/>
          <p:cNvSpPr txBox="1"/>
          <p:nvPr/>
        </p:nvSpPr>
        <p:spPr>
          <a:xfrm>
            <a:off x="1371600" y="5330952"/>
            <a:ext cx="9601200" cy="713232"/>
          </a:xfrm>
          <a:prstGeom prst="rect">
            <a:avLst/>
          </a:prstGeom>
          <a:noFill/>
        </p:spPr>
        <p:txBody>
          <a:bodyPr wrap="square" anchor="t" lIns="0" rIns="0" tIns="0" bIns="0">
            <a:spAutoFit/>
          </a:bodyPr>
          <a:lstStyle/>
          <a:p>
            <a:pPr algn="l"/>
            <a:r>
              <a:rPr sz="1700" b="1" i="0">
                <a:solidFill>
                  <a:srgbClr val="00D395"/>
                </a:solidFill>
                <a:latin typeface="Calibri"/>
              </a:rPr>
              <a:t>▸  </a:t>
            </a:r>
            <a:r>
              <a:rPr sz="1700" b="1" i="0">
                <a:solidFill>
                  <a:srgbClr val="FFFFFF"/>
                </a:solidFill>
                <a:latin typeface="Calibri"/>
              </a:rPr>
              <a:t>Reactive Network integration —</a:t>
            </a:r>
          </a:p>
          <a:p>
            <a:pPr algn="l">
              <a:spcBef>
                <a:spcPts val="100"/>
              </a:spcBef>
            </a:pPr>
            <a:r>
              <a:rPr sz="1500" b="0" i="0">
                <a:solidFill>
                  <a:srgbClr val="94A3B8"/>
                </a:solidFill>
                <a:latin typeface="Calibri"/>
              </a:rPr>
              <a:t>     range transitions detected cross-chain, no keepers</a:t>
            </a:r>
          </a:p>
        </p:txBody>
      </p:sp>
      <p:sp>
        <p:nvSpPr>
          <p:cNvPr id="11" name="TextBox 10"/>
          <p:cNvSpPr txBox="1"/>
          <p:nvPr/>
        </p:nvSpPr>
        <p:spPr>
          <a:xfrm>
            <a:off x="914400" y="6263640"/>
            <a:ext cx="10360152" cy="411480"/>
          </a:xfrm>
          <a:prstGeom prst="rect">
            <a:avLst/>
          </a:prstGeom>
          <a:noFill/>
        </p:spPr>
        <p:txBody>
          <a:bodyPr wrap="square" anchor="ctr" lIns="0" rIns="0" tIns="0" bIns="0">
            <a:spAutoFit/>
          </a:bodyPr>
          <a:lstStyle/>
          <a:p>
            <a:pPr algn="ctr"/>
            <a:r>
              <a:rPr sz="1900" b="1" i="1">
                <a:solidFill>
                  <a:srgbClr val="00D395"/>
                </a:solidFill>
                <a:latin typeface="Calibri"/>
              </a:rPr>
              <a:t>“Protect your liquidity. Guard your range.”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20624"/>
            <a:ext cx="5486400" cy="365760"/>
          </a:xfrm>
          <a:prstGeom prst="rect">
            <a:avLst/>
          </a:prstGeom>
          <a:noFill/>
        </p:spPr>
        <p:txBody>
          <a:bodyPr wrap="square" anchor="t" lIns="0" rIns="0" tIns="0" bIns="0">
            <a:spAutoFit/>
          </a:bodyPr>
          <a:lstStyle/>
          <a:p>
            <a:pPr algn="l"/>
            <a:r>
              <a:rPr sz="1300" b="1" i="0">
                <a:solidFill>
                  <a:srgbClr val="00D395"/>
                </a:solidFill>
                <a:latin typeface="Calibri"/>
              </a:rPr>
              <a:t>THE SOLUTION</a:t>
            </a:r>
          </a:p>
        </p:txBody>
      </p:sp>
      <p:pic>
        <p:nvPicPr>
          <p:cNvPr id="4" name="Picture 3" descr="logo-icon.png"/>
          <p:cNvPicPr>
            <a:picLocks noChangeAspect="1"/>
          </p:cNvPicPr>
          <p:nvPr/>
        </p:nvPicPr>
        <p:blipFill>
          <a:blip r:embed="rId2"/>
          <a:stretch>
            <a:fillRect/>
          </a:stretch>
        </p:blipFill>
        <p:spPr>
          <a:xfrm>
            <a:off x="457200" y="365760"/>
            <a:ext cx="274320" cy="274320"/>
          </a:xfrm>
          <a:prstGeom prst="rect">
            <a:avLst/>
          </a:prstGeom>
          <a:ln>
            <a:noFill/>
          </a:ln>
          <a:effectLst/>
        </p:spPr>
      </p:pic>
      <p:sp>
        <p:nvSpPr>
          <p:cNvPr id="5" name="TextBox 4"/>
          <p:cNvSpPr txBox="1"/>
          <p:nvPr/>
        </p:nvSpPr>
        <p:spPr>
          <a:xfrm>
            <a:off x="914400" y="868680"/>
            <a:ext cx="10360152" cy="548640"/>
          </a:xfrm>
          <a:prstGeom prst="rect">
            <a:avLst/>
          </a:prstGeom>
          <a:noFill/>
        </p:spPr>
        <p:txBody>
          <a:bodyPr wrap="square" anchor="t" lIns="0" rIns="0" tIns="0" bIns="0">
            <a:spAutoFit/>
          </a:bodyPr>
          <a:lstStyle/>
          <a:p>
            <a:pPr algn="ctr"/>
            <a:r>
              <a:rPr sz="3000" b="1" i="0">
                <a:solidFill>
                  <a:srgbClr val="FFFFFF"/>
                </a:solidFill>
                <a:latin typeface="Calibri"/>
              </a:rPr>
              <a:t>Self-Funding by Design</a:t>
            </a:r>
          </a:p>
        </p:txBody>
      </p:sp>
      <p:sp>
        <p:nvSpPr>
          <p:cNvPr id="6" name="Rounded Rectangle 5"/>
          <p:cNvSpPr/>
          <p:nvPr/>
        </p:nvSpPr>
        <p:spPr>
          <a:xfrm>
            <a:off x="960120" y="2057400"/>
            <a:ext cx="3063240" cy="960120"/>
          </a:xfrm>
          <a:prstGeom prst="roundRect">
            <a:avLst>
              <a:gd name="adj" fmla="val 8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57400"/>
            <a:ext cx="3063240" cy="960120"/>
          </a:xfrm>
          <a:prstGeom prst="rect">
            <a:avLst/>
          </a:prstGeom>
          <a:noFill/>
        </p:spPr>
        <p:txBody>
          <a:bodyPr wrap="square" anchor="ctr" lIns="0" rIns="0" tIns="0" bIns="0">
            <a:spAutoFit/>
          </a:bodyPr>
          <a:lstStyle/>
          <a:p>
            <a:pPr algn="ctr"/>
            <a:r>
              <a:rPr sz="1500" b="0" i="0">
                <a:solidFill>
                  <a:srgbClr val="FFFFFF"/>
                </a:solidFill>
                <a:latin typeface="Calibri"/>
              </a:rPr>
              <a:t>LPs provide</a:t>
            </a:r>
          </a:p>
          <a:p>
            <a:pPr algn="ctr"/>
            <a:r>
              <a:rPr sz="1500" b="0" i="0">
                <a:solidFill>
                  <a:srgbClr val="FFFFFF"/>
                </a:solidFill>
                <a:latin typeface="Calibri"/>
              </a:rPr>
              <a:t>liquidity</a:t>
            </a:r>
          </a:p>
        </p:txBody>
      </p:sp>
      <p:sp>
        <p:nvSpPr>
          <p:cNvPr id="8" name="Rounded Rectangle 7"/>
          <p:cNvSpPr/>
          <p:nvPr/>
        </p:nvSpPr>
        <p:spPr>
          <a:xfrm>
            <a:off x="960120" y="3977639"/>
            <a:ext cx="3063240" cy="960120"/>
          </a:xfrm>
          <a:prstGeom prst="roundRect">
            <a:avLst>
              <a:gd name="adj" fmla="val 8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977639"/>
            <a:ext cx="3063240" cy="960120"/>
          </a:xfrm>
          <a:prstGeom prst="rect">
            <a:avLst/>
          </a:prstGeom>
          <a:noFill/>
        </p:spPr>
        <p:txBody>
          <a:bodyPr wrap="square" anchor="ctr" lIns="0" rIns="0" tIns="0" bIns="0">
            <a:spAutoFit/>
          </a:bodyPr>
          <a:lstStyle/>
          <a:p>
            <a:pPr algn="ctr"/>
            <a:r>
              <a:rPr sz="1500" b="0" i="0">
                <a:solidFill>
                  <a:srgbClr val="FFFFFF"/>
                </a:solidFill>
                <a:latin typeface="Calibri"/>
              </a:rPr>
              <a:t>LPs are</a:t>
            </a:r>
          </a:p>
          <a:p>
            <a:pPr algn="ctr"/>
            <a:r>
              <a:rPr sz="1500" b="0" i="0">
                <a:solidFill>
                  <a:srgbClr val="FFFFFF"/>
                </a:solidFill>
                <a:latin typeface="Calibri"/>
              </a:rPr>
              <a:t>protected</a:t>
            </a:r>
          </a:p>
        </p:txBody>
      </p:sp>
      <p:sp>
        <p:nvSpPr>
          <p:cNvPr id="10" name="Rounded Rectangle 9"/>
          <p:cNvSpPr/>
          <p:nvPr/>
        </p:nvSpPr>
        <p:spPr>
          <a:xfrm>
            <a:off x="4562856" y="2057400"/>
            <a:ext cx="3063240" cy="960120"/>
          </a:xfrm>
          <a:prstGeom prst="roundRect">
            <a:avLst>
              <a:gd name="adj" fmla="val 8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2057400"/>
            <a:ext cx="3063240" cy="960120"/>
          </a:xfrm>
          <a:prstGeom prst="rect">
            <a:avLst/>
          </a:prstGeom>
          <a:noFill/>
        </p:spPr>
        <p:txBody>
          <a:bodyPr wrap="square" anchor="ctr" lIns="0" rIns="0" tIns="0" bIns="0">
            <a:spAutoFit/>
          </a:bodyPr>
          <a:lstStyle/>
          <a:p>
            <a:pPr algn="ctr"/>
            <a:r>
              <a:rPr sz="1500" b="0" i="0">
                <a:solidFill>
                  <a:srgbClr val="FFFFFF"/>
                </a:solidFill>
                <a:latin typeface="Calibri"/>
              </a:rPr>
              <a:t>Traders use</a:t>
            </a:r>
          </a:p>
          <a:p>
            <a:pPr algn="ctr"/>
            <a:r>
              <a:rPr sz="1500" b="0" i="0">
                <a:solidFill>
                  <a:srgbClr val="FFFFFF"/>
                </a:solidFill>
                <a:latin typeface="Calibri"/>
              </a:rPr>
              <a:t>the pool</a:t>
            </a:r>
          </a:p>
        </p:txBody>
      </p:sp>
      <p:sp>
        <p:nvSpPr>
          <p:cNvPr id="12" name="Rounded Rectangle 11"/>
          <p:cNvSpPr/>
          <p:nvPr/>
        </p:nvSpPr>
        <p:spPr>
          <a:xfrm>
            <a:off x="4562856" y="3977639"/>
            <a:ext cx="3063240" cy="960120"/>
          </a:xfrm>
          <a:prstGeom prst="roundRect">
            <a:avLst>
              <a:gd name="adj" fmla="val 8000"/>
            </a:avLst>
          </a:prstGeom>
          <a:solidFill>
            <a:srgbClr val="1E2433"/>
          </a:solidFill>
          <a:ln w="25400">
            <a:solidFill>
              <a:srgbClr val="00D3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6" y="3977639"/>
            <a:ext cx="3063240" cy="960120"/>
          </a:xfrm>
          <a:prstGeom prst="rect">
            <a:avLst/>
          </a:prstGeom>
          <a:noFill/>
        </p:spPr>
        <p:txBody>
          <a:bodyPr wrap="square" anchor="ctr" lIns="0" rIns="0" tIns="0" bIns="0">
            <a:spAutoFit/>
          </a:bodyPr>
          <a:lstStyle/>
          <a:p>
            <a:pPr algn="ctr"/>
            <a:r>
              <a:rPr sz="1500" b="1" i="0">
                <a:solidFill>
                  <a:srgbClr val="FFFFFF"/>
                </a:solidFill>
                <a:latin typeface="Calibri"/>
              </a:rPr>
              <a:t>Buffer pays</a:t>
            </a:r>
          </a:p>
          <a:p>
            <a:pPr algn="ctr"/>
            <a:r>
              <a:rPr sz="1500" b="1" i="0">
                <a:solidFill>
                  <a:srgbClr val="FFFFFF"/>
                </a:solidFill>
                <a:latin typeface="Calibri"/>
              </a:rPr>
              <a:t>capped IL</a:t>
            </a:r>
          </a:p>
        </p:txBody>
      </p:sp>
      <p:sp>
        <p:nvSpPr>
          <p:cNvPr id="14" name="Rounded Rectangle 13"/>
          <p:cNvSpPr/>
          <p:nvPr/>
        </p:nvSpPr>
        <p:spPr>
          <a:xfrm>
            <a:off x="8165592" y="2057400"/>
            <a:ext cx="3063240" cy="960120"/>
          </a:xfrm>
          <a:prstGeom prst="roundRect">
            <a:avLst>
              <a:gd name="adj" fmla="val 8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5592" y="2057400"/>
            <a:ext cx="3063240" cy="960120"/>
          </a:xfrm>
          <a:prstGeom prst="rect">
            <a:avLst/>
          </a:prstGeom>
          <a:noFill/>
        </p:spPr>
        <p:txBody>
          <a:bodyPr wrap="square" anchor="ctr" lIns="0" rIns="0" tIns="0" bIns="0">
            <a:spAutoFit/>
          </a:bodyPr>
          <a:lstStyle/>
          <a:p>
            <a:pPr algn="ctr"/>
            <a:r>
              <a:rPr sz="1500" b="0" i="0">
                <a:solidFill>
                  <a:srgbClr val="FFFFFF"/>
                </a:solidFill>
                <a:latin typeface="Calibri"/>
              </a:rPr>
              <a:t>Swaps generate</a:t>
            </a:r>
          </a:p>
          <a:p>
            <a:pPr algn="ctr"/>
            <a:r>
              <a:rPr sz="1500" b="0" i="0">
                <a:solidFill>
                  <a:srgbClr val="FFFFFF"/>
                </a:solidFill>
                <a:latin typeface="Calibri"/>
              </a:rPr>
              <a:t>fees</a:t>
            </a:r>
          </a:p>
        </p:txBody>
      </p:sp>
      <p:sp>
        <p:nvSpPr>
          <p:cNvPr id="16" name="Rounded Rectangle 15"/>
          <p:cNvSpPr/>
          <p:nvPr/>
        </p:nvSpPr>
        <p:spPr>
          <a:xfrm>
            <a:off x="8165592" y="3977639"/>
            <a:ext cx="3063240" cy="960120"/>
          </a:xfrm>
          <a:prstGeom prst="roundRect">
            <a:avLst>
              <a:gd name="adj" fmla="val 8000"/>
            </a:avLst>
          </a:prstGeom>
          <a:solidFill>
            <a:srgbClr val="1E2433"/>
          </a:solidFill>
          <a:ln w="25400">
            <a:solidFill>
              <a:srgbClr val="00D3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3977639"/>
            <a:ext cx="3063240" cy="960120"/>
          </a:xfrm>
          <a:prstGeom prst="rect">
            <a:avLst/>
          </a:prstGeom>
          <a:noFill/>
        </p:spPr>
        <p:txBody>
          <a:bodyPr wrap="square" anchor="ctr" lIns="0" rIns="0" tIns="0" bIns="0">
            <a:spAutoFit/>
          </a:bodyPr>
          <a:lstStyle/>
          <a:p>
            <a:pPr algn="ctr"/>
            <a:r>
              <a:rPr sz="1500" b="1" i="0">
                <a:solidFill>
                  <a:srgbClr val="FFFFFF"/>
                </a:solidFill>
                <a:latin typeface="Calibri"/>
              </a:rPr>
              <a:t>Buffer slice</a:t>
            </a:r>
          </a:p>
          <a:p>
            <a:pPr algn="ctr"/>
            <a:r>
              <a:rPr sz="1500" b="1" i="0">
                <a:solidFill>
                  <a:srgbClr val="FFFFFF"/>
                </a:solidFill>
                <a:latin typeface="Calibri"/>
              </a:rPr>
              <a:t>skimmed</a:t>
            </a:r>
          </a:p>
        </p:txBody>
      </p:sp>
      <p:sp>
        <p:nvSpPr>
          <p:cNvPr id="18" name="Right Arrow 17"/>
          <p:cNvSpPr/>
          <p:nvPr/>
        </p:nvSpPr>
        <p:spPr>
          <a:xfrm>
            <a:off x="4069080" y="2372868"/>
            <a:ext cx="448055" cy="329184"/>
          </a:xfrm>
          <a:prstGeom prst="rightArrow">
            <a:avLst/>
          </a:prstGeom>
          <a:solidFill>
            <a:srgbClr val="00D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7671816" y="2372868"/>
            <a:ext cx="448055" cy="329184"/>
          </a:xfrm>
          <a:prstGeom prst="rightArrow">
            <a:avLst/>
          </a:prstGeom>
          <a:solidFill>
            <a:srgbClr val="00D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eft Arrow 19"/>
          <p:cNvSpPr/>
          <p:nvPr/>
        </p:nvSpPr>
        <p:spPr>
          <a:xfrm>
            <a:off x="4069080" y="4293108"/>
            <a:ext cx="448055" cy="329184"/>
          </a:xfrm>
          <a:prstGeom prst="leftArrow">
            <a:avLst/>
          </a:prstGeom>
          <a:solidFill>
            <a:srgbClr val="00D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eft Arrow 20"/>
          <p:cNvSpPr/>
          <p:nvPr/>
        </p:nvSpPr>
        <p:spPr>
          <a:xfrm>
            <a:off x="7671816" y="4293108"/>
            <a:ext cx="448055" cy="329184"/>
          </a:xfrm>
          <a:prstGeom prst="leftArrow">
            <a:avLst/>
          </a:prstGeom>
          <a:solidFill>
            <a:srgbClr val="00D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9532620" y="3072384"/>
            <a:ext cx="329184" cy="850391"/>
          </a:xfrm>
          <a:prstGeom prst="downArrow">
            <a:avLst/>
          </a:prstGeom>
          <a:solidFill>
            <a:srgbClr val="00D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Up Arrow 22"/>
          <p:cNvSpPr/>
          <p:nvPr/>
        </p:nvSpPr>
        <p:spPr>
          <a:xfrm>
            <a:off x="2327148" y="3072384"/>
            <a:ext cx="329184" cy="850391"/>
          </a:xfrm>
          <a:prstGeom prst="upArrow">
            <a:avLst/>
          </a:prstGeom>
          <a:solidFill>
            <a:srgbClr val="00D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6126480"/>
            <a:ext cx="10360152" cy="457200"/>
          </a:xfrm>
          <a:prstGeom prst="rect">
            <a:avLst/>
          </a:prstGeom>
          <a:noFill/>
        </p:spPr>
        <p:txBody>
          <a:bodyPr wrap="square" anchor="ctr" lIns="0" rIns="0" tIns="0" bIns="0">
            <a:spAutoFit/>
          </a:bodyPr>
          <a:lstStyle/>
          <a:p>
            <a:pPr algn="ctr"/>
            <a:r>
              <a:rPr sz="1900" b="1" i="0">
                <a:solidFill>
                  <a:srgbClr val="00D395"/>
                </a:solidFill>
                <a:latin typeface="Calibri"/>
              </a:rPr>
              <a:t>Swap activity funds the buffer that protects LPs.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20624"/>
            <a:ext cx="5486400" cy="365760"/>
          </a:xfrm>
          <a:prstGeom prst="rect">
            <a:avLst/>
          </a:prstGeom>
          <a:noFill/>
        </p:spPr>
        <p:txBody>
          <a:bodyPr wrap="square" anchor="t" lIns="0" rIns="0" tIns="0" bIns="0">
            <a:spAutoFit/>
          </a:bodyPr>
          <a:lstStyle/>
          <a:p>
            <a:pPr algn="l"/>
            <a:r>
              <a:rPr sz="1300" b="1" i="0">
                <a:solidFill>
                  <a:srgbClr val="00D395"/>
                </a:solidFill>
                <a:latin typeface="Calibri"/>
              </a:rPr>
              <a:t>THE SOLUTION</a:t>
            </a:r>
          </a:p>
        </p:txBody>
      </p:sp>
      <p:pic>
        <p:nvPicPr>
          <p:cNvPr id="4" name="Picture 3" descr="logo-icon.png"/>
          <p:cNvPicPr>
            <a:picLocks noChangeAspect="1"/>
          </p:cNvPicPr>
          <p:nvPr/>
        </p:nvPicPr>
        <p:blipFill>
          <a:blip r:embed="rId2"/>
          <a:stretch>
            <a:fillRect/>
          </a:stretch>
        </p:blipFill>
        <p:spPr>
          <a:xfrm>
            <a:off x="457200" y="365760"/>
            <a:ext cx="274320" cy="274320"/>
          </a:xfrm>
          <a:prstGeom prst="rect">
            <a:avLst/>
          </a:prstGeom>
          <a:ln>
            <a:noFill/>
          </a:ln>
          <a:effectLst/>
        </p:spPr>
      </p:pic>
      <p:sp>
        <p:nvSpPr>
          <p:cNvPr id="5" name="TextBox 4"/>
          <p:cNvSpPr txBox="1"/>
          <p:nvPr/>
        </p:nvSpPr>
        <p:spPr>
          <a:xfrm>
            <a:off x="914400" y="868680"/>
            <a:ext cx="10360152" cy="548640"/>
          </a:xfrm>
          <a:prstGeom prst="rect">
            <a:avLst/>
          </a:prstGeom>
          <a:noFill/>
        </p:spPr>
        <p:txBody>
          <a:bodyPr wrap="square" anchor="t" lIns="0" rIns="0" tIns="0" bIns="0">
            <a:spAutoFit/>
          </a:bodyPr>
          <a:lstStyle/>
          <a:p>
            <a:pPr algn="ctr"/>
            <a:r>
              <a:rPr sz="2900" b="1" i="0">
                <a:solidFill>
                  <a:srgbClr val="FFFFFF"/>
                </a:solidFill>
                <a:latin typeface="Calibri"/>
              </a:rPr>
              <a:t>How RangeGuard Works: Five Pillars</a:t>
            </a:r>
          </a:p>
        </p:txBody>
      </p:sp>
      <p:sp>
        <p:nvSpPr>
          <p:cNvPr id="6" name="TextBox 5"/>
          <p:cNvSpPr txBox="1"/>
          <p:nvPr/>
        </p:nvSpPr>
        <p:spPr>
          <a:xfrm>
            <a:off x="1005840" y="1645920"/>
            <a:ext cx="640080" cy="676656"/>
          </a:xfrm>
          <a:prstGeom prst="rect">
            <a:avLst/>
          </a:prstGeom>
          <a:noFill/>
        </p:spPr>
        <p:txBody>
          <a:bodyPr wrap="square" anchor="t" lIns="0" rIns="0" tIns="0" bIns="0">
            <a:spAutoFit/>
          </a:bodyPr>
          <a:lstStyle/>
          <a:p>
            <a:pPr algn="l"/>
            <a:r>
              <a:rPr sz="2500" b="1" i="0">
                <a:solidFill>
                  <a:srgbClr val="00D395"/>
                </a:solidFill>
                <a:latin typeface="Calibri"/>
              </a:rPr>
              <a:t>1</a:t>
            </a:r>
          </a:p>
        </p:txBody>
      </p:sp>
      <p:sp>
        <p:nvSpPr>
          <p:cNvPr id="7" name="TextBox 6"/>
          <p:cNvSpPr txBox="1"/>
          <p:nvPr/>
        </p:nvSpPr>
        <p:spPr>
          <a:xfrm>
            <a:off x="1645920" y="1645920"/>
            <a:ext cx="9601200" cy="676656"/>
          </a:xfrm>
          <a:prstGeom prst="rect">
            <a:avLst/>
          </a:prstGeom>
          <a:noFill/>
        </p:spPr>
        <p:txBody>
          <a:bodyPr wrap="square" anchor="t" lIns="0" rIns="0" tIns="0" bIns="0">
            <a:spAutoFit/>
          </a:bodyPr>
          <a:lstStyle/>
          <a:p>
            <a:pPr algn="l">
              <a:spcAft>
                <a:spcPts val="200"/>
              </a:spcAft>
            </a:pPr>
            <a:r>
              <a:rPr sz="1900" b="1" i="0">
                <a:solidFill>
                  <a:srgbClr val="FFFFFF"/>
                </a:solidFill>
                <a:latin typeface="Calibri"/>
              </a:rPr>
              <a:t>Accrual Gating</a:t>
            </a:r>
          </a:p>
          <a:p>
            <a:pPr algn="l">
              <a:spcAft>
                <a:spcPts val="100"/>
              </a:spcAft>
            </a:pPr>
            <a:r>
              <a:rPr sz="1450" b="0" i="0">
                <a:solidFill>
                  <a:srgbClr val="94A3B8"/>
                </a:solidFill>
                <a:latin typeface="Calibri"/>
              </a:rPr>
              <a:t>Coverage accrues only while the position is in range</a:t>
            </a:r>
          </a:p>
        </p:txBody>
      </p:sp>
      <p:sp>
        <p:nvSpPr>
          <p:cNvPr id="8" name="TextBox 7"/>
          <p:cNvSpPr txBox="1"/>
          <p:nvPr/>
        </p:nvSpPr>
        <p:spPr>
          <a:xfrm>
            <a:off x="1005840" y="2468880"/>
            <a:ext cx="640080" cy="676656"/>
          </a:xfrm>
          <a:prstGeom prst="rect">
            <a:avLst/>
          </a:prstGeom>
          <a:noFill/>
        </p:spPr>
        <p:txBody>
          <a:bodyPr wrap="square" anchor="t" lIns="0" rIns="0" tIns="0" bIns="0">
            <a:spAutoFit/>
          </a:bodyPr>
          <a:lstStyle/>
          <a:p>
            <a:pPr algn="l"/>
            <a:r>
              <a:rPr sz="2500" b="1" i="0">
                <a:solidFill>
                  <a:srgbClr val="00D395"/>
                </a:solidFill>
                <a:latin typeface="Calibri"/>
              </a:rPr>
              <a:t>2</a:t>
            </a:r>
          </a:p>
        </p:txBody>
      </p:sp>
      <p:sp>
        <p:nvSpPr>
          <p:cNvPr id="9" name="TextBox 8"/>
          <p:cNvSpPr txBox="1"/>
          <p:nvPr/>
        </p:nvSpPr>
        <p:spPr>
          <a:xfrm>
            <a:off x="1645920" y="2468880"/>
            <a:ext cx="9601200" cy="676656"/>
          </a:xfrm>
          <a:prstGeom prst="rect">
            <a:avLst/>
          </a:prstGeom>
          <a:noFill/>
        </p:spPr>
        <p:txBody>
          <a:bodyPr wrap="square" anchor="t" lIns="0" rIns="0" tIns="0" bIns="0">
            <a:spAutoFit/>
          </a:bodyPr>
          <a:lstStyle/>
          <a:p>
            <a:pPr algn="l">
              <a:spcAft>
                <a:spcPts val="200"/>
              </a:spcAft>
            </a:pPr>
            <a:r>
              <a:rPr sz="1900" b="1" i="0">
                <a:solidFill>
                  <a:srgbClr val="FFFFFF"/>
                </a:solidFill>
                <a:latin typeface="Calibri"/>
              </a:rPr>
              <a:t>Buffer Funding</a:t>
            </a:r>
          </a:p>
          <a:p>
            <a:pPr algn="l">
              <a:spcAft>
                <a:spcPts val="100"/>
              </a:spcAft>
            </a:pPr>
            <a:r>
              <a:rPr sz="1450" b="0" i="0">
                <a:solidFill>
                  <a:srgbClr val="94A3B8"/>
                </a:solidFill>
                <a:latin typeface="Calibri"/>
              </a:rPr>
              <a:t>A portion of every swap fee funds the coverage buffer</a:t>
            </a:r>
          </a:p>
        </p:txBody>
      </p:sp>
      <p:sp>
        <p:nvSpPr>
          <p:cNvPr id="10" name="TextBox 9"/>
          <p:cNvSpPr txBox="1"/>
          <p:nvPr/>
        </p:nvSpPr>
        <p:spPr>
          <a:xfrm>
            <a:off x="1005840" y="3291840"/>
            <a:ext cx="640080" cy="914400"/>
          </a:xfrm>
          <a:prstGeom prst="rect">
            <a:avLst/>
          </a:prstGeom>
          <a:noFill/>
        </p:spPr>
        <p:txBody>
          <a:bodyPr wrap="square" anchor="t" lIns="0" rIns="0" tIns="0" bIns="0">
            <a:spAutoFit/>
          </a:bodyPr>
          <a:lstStyle/>
          <a:p>
            <a:pPr algn="l"/>
            <a:r>
              <a:rPr sz="2500" b="1" i="0">
                <a:solidFill>
                  <a:srgbClr val="00D395"/>
                </a:solidFill>
                <a:latin typeface="Calibri"/>
              </a:rPr>
              <a:t>3</a:t>
            </a:r>
          </a:p>
        </p:txBody>
      </p:sp>
      <p:sp>
        <p:nvSpPr>
          <p:cNvPr id="11" name="TextBox 10"/>
          <p:cNvSpPr txBox="1"/>
          <p:nvPr/>
        </p:nvSpPr>
        <p:spPr>
          <a:xfrm>
            <a:off x="1645920" y="3291840"/>
            <a:ext cx="9601200" cy="914400"/>
          </a:xfrm>
          <a:prstGeom prst="rect">
            <a:avLst/>
          </a:prstGeom>
          <a:noFill/>
        </p:spPr>
        <p:txBody>
          <a:bodyPr wrap="square" anchor="t" lIns="0" rIns="0" tIns="0" bIns="0">
            <a:spAutoFit/>
          </a:bodyPr>
          <a:lstStyle/>
          <a:p>
            <a:pPr algn="l">
              <a:spcAft>
                <a:spcPts val="200"/>
              </a:spcAft>
            </a:pPr>
            <a:r>
              <a:rPr sz="1900" b="1" i="0">
                <a:solidFill>
                  <a:srgbClr val="FFFFFF"/>
                </a:solidFill>
                <a:latin typeface="Calibri"/>
              </a:rPr>
              <a:t>Claim Settlement</a:t>
            </a:r>
          </a:p>
          <a:p>
            <a:pPr algn="l">
              <a:spcAft>
                <a:spcPts val="100"/>
              </a:spcAft>
            </a:pPr>
            <a:r>
              <a:rPr sz="1450" b="0" i="0">
                <a:solidFill>
                  <a:srgbClr val="94A3B8"/>
                </a:solidFill>
                <a:latin typeface="Calibri"/>
              </a:rPr>
              <a:t>IL computed and paid automatically on withdrawal</a:t>
            </a:r>
          </a:p>
          <a:p>
            <a:pPr algn="l">
              <a:spcAft>
                <a:spcPts val="100"/>
              </a:spcAft>
            </a:pPr>
            <a:r>
              <a:rPr sz="1450" b="0" i="0">
                <a:solidFill>
                  <a:srgbClr val="94A3B8"/>
                </a:solidFill>
                <a:latin typeface="Calibri"/>
              </a:rPr>
              <a:t>Payout = min(covered IL, earned coverage, buffer cap)</a:t>
            </a:r>
          </a:p>
        </p:txBody>
      </p:sp>
      <p:sp>
        <p:nvSpPr>
          <p:cNvPr id="12" name="Rounded Rectangle 11"/>
          <p:cNvSpPr/>
          <p:nvPr/>
        </p:nvSpPr>
        <p:spPr>
          <a:xfrm>
            <a:off x="777240" y="4279392"/>
            <a:ext cx="10634472" cy="1024128"/>
          </a:xfrm>
          <a:prstGeom prst="roundRect">
            <a:avLst>
              <a:gd name="adj" fmla="val 8000"/>
            </a:avLst>
          </a:prstGeom>
          <a:solidFill>
            <a:srgbClr val="1E2433"/>
          </a:solidFill>
          <a:ln w="25400">
            <a:solidFill>
              <a:srgbClr val="00D3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52544"/>
            <a:ext cx="640080" cy="914400"/>
          </a:xfrm>
          <a:prstGeom prst="rect">
            <a:avLst/>
          </a:prstGeom>
          <a:noFill/>
        </p:spPr>
        <p:txBody>
          <a:bodyPr wrap="square" anchor="t" lIns="0" rIns="0" tIns="0" bIns="0">
            <a:spAutoFit/>
          </a:bodyPr>
          <a:lstStyle/>
          <a:p>
            <a:pPr algn="l"/>
            <a:r>
              <a:rPr sz="2500" b="1" i="0">
                <a:solidFill>
                  <a:srgbClr val="00D395"/>
                </a:solidFill>
                <a:latin typeface="Calibri"/>
              </a:rPr>
              <a:t>4</a:t>
            </a:r>
          </a:p>
        </p:txBody>
      </p:sp>
      <p:sp>
        <p:nvSpPr>
          <p:cNvPr id="14" name="TextBox 13"/>
          <p:cNvSpPr txBox="1"/>
          <p:nvPr/>
        </p:nvSpPr>
        <p:spPr>
          <a:xfrm>
            <a:off x="1645920" y="4352544"/>
            <a:ext cx="9601200" cy="914400"/>
          </a:xfrm>
          <a:prstGeom prst="rect">
            <a:avLst/>
          </a:prstGeom>
          <a:noFill/>
        </p:spPr>
        <p:txBody>
          <a:bodyPr wrap="square" anchor="t" lIns="0" rIns="0" tIns="0" bIns="0">
            <a:spAutoFit/>
          </a:bodyPr>
          <a:lstStyle/>
          <a:p>
            <a:pPr algn="l">
              <a:spcAft>
                <a:spcPts val="200"/>
              </a:spcAft>
            </a:pPr>
            <a:r>
              <a:rPr sz="1900" b="1" i="0">
                <a:solidFill>
                  <a:srgbClr val="FFFFFF"/>
                </a:solidFill>
                <a:latin typeface="Calibri"/>
              </a:rPr>
              <a:t>LP Transparency  ★</a:t>
            </a:r>
          </a:p>
          <a:p>
            <a:pPr algn="l">
              <a:spcAft>
                <a:spcPts val="100"/>
              </a:spcAft>
            </a:pPr>
            <a:r>
              <a:rPr sz="1450" b="0" i="0">
                <a:solidFill>
                  <a:srgbClr val="94A3B8"/>
                </a:solidFill>
                <a:latin typeface="Calibri"/>
              </a:rPr>
              <a:t>A verifiable, day-by-day coverage report —</a:t>
            </a:r>
          </a:p>
          <a:p>
            <a:pPr algn="l">
              <a:spcAft>
                <a:spcPts val="100"/>
              </a:spcAft>
            </a:pPr>
            <a:r>
              <a:rPr sz="1450" b="0" i="0">
                <a:solidFill>
                  <a:srgbClr val="94A3B8"/>
                </a:solidFill>
                <a:latin typeface="Calibri"/>
              </a:rPr>
              <a:t>built entirely from on-chain events</a:t>
            </a:r>
          </a:p>
        </p:txBody>
      </p:sp>
      <p:sp>
        <p:nvSpPr>
          <p:cNvPr id="15" name="TextBox 14"/>
          <p:cNvSpPr txBox="1"/>
          <p:nvPr/>
        </p:nvSpPr>
        <p:spPr>
          <a:xfrm>
            <a:off x="1005840" y="5413248"/>
            <a:ext cx="640080" cy="676656"/>
          </a:xfrm>
          <a:prstGeom prst="rect">
            <a:avLst/>
          </a:prstGeom>
          <a:noFill/>
        </p:spPr>
        <p:txBody>
          <a:bodyPr wrap="square" anchor="t" lIns="0" rIns="0" tIns="0" bIns="0">
            <a:spAutoFit/>
          </a:bodyPr>
          <a:lstStyle/>
          <a:p>
            <a:pPr algn="l"/>
            <a:r>
              <a:rPr sz="2500" b="1" i="0">
                <a:solidFill>
                  <a:srgbClr val="00D395"/>
                </a:solidFill>
                <a:latin typeface="Calibri"/>
              </a:rPr>
              <a:t>5</a:t>
            </a:r>
          </a:p>
        </p:txBody>
      </p:sp>
      <p:sp>
        <p:nvSpPr>
          <p:cNvPr id="16" name="TextBox 15"/>
          <p:cNvSpPr txBox="1"/>
          <p:nvPr/>
        </p:nvSpPr>
        <p:spPr>
          <a:xfrm>
            <a:off x="1645920" y="5413248"/>
            <a:ext cx="9601200" cy="676656"/>
          </a:xfrm>
          <a:prstGeom prst="rect">
            <a:avLst/>
          </a:prstGeom>
          <a:noFill/>
        </p:spPr>
        <p:txBody>
          <a:bodyPr wrap="square" anchor="t" lIns="0" rIns="0" tIns="0" bIns="0">
            <a:spAutoFit/>
          </a:bodyPr>
          <a:lstStyle/>
          <a:p>
            <a:pPr algn="l">
              <a:spcAft>
                <a:spcPts val="200"/>
              </a:spcAft>
            </a:pPr>
            <a:r>
              <a:rPr sz="1900" b="1" i="0">
                <a:solidFill>
                  <a:srgbClr val="FFFFFF"/>
                </a:solidFill>
                <a:latin typeface="Calibri"/>
              </a:rPr>
              <a:t>Pool Configuration</a:t>
            </a:r>
          </a:p>
          <a:p>
            <a:pPr algn="l">
              <a:spcAft>
                <a:spcPts val="100"/>
              </a:spcAft>
            </a:pPr>
            <a:r>
              <a:rPr sz="1450" b="0" i="0">
                <a:solidFill>
                  <a:srgbClr val="94A3B8"/>
                </a:solidFill>
                <a:latin typeface="Calibri"/>
              </a:rPr>
              <a:t>Immutable parameters set once at pool initialization</a:t>
            </a:r>
          </a:p>
        </p:txBody>
      </p:sp>
      <p:sp>
        <p:nvSpPr>
          <p:cNvPr id="17" name="TextBox 16"/>
          <p:cNvSpPr txBox="1"/>
          <p:nvPr/>
        </p:nvSpPr>
        <p:spPr>
          <a:xfrm>
            <a:off x="914400" y="6263640"/>
            <a:ext cx="10360152" cy="411480"/>
          </a:xfrm>
          <a:prstGeom prst="rect">
            <a:avLst/>
          </a:prstGeom>
          <a:noFill/>
        </p:spPr>
        <p:txBody>
          <a:bodyPr wrap="square" anchor="ctr" lIns="0" rIns="0" tIns="0" bIns="0">
            <a:spAutoFit/>
          </a:bodyPr>
          <a:lstStyle/>
          <a:p>
            <a:pPr algn="ctr"/>
            <a:r>
              <a:rPr sz="1700" b="1" i="0">
                <a:solidFill>
                  <a:srgbClr val="00D395"/>
                </a:solidFill>
                <a:latin typeface="Calibri"/>
              </a:rPr>
              <a:t>Every pillar is enforced on-chain. No off-chain assumptions.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420624"/>
            <a:ext cx="5486400" cy="365760"/>
          </a:xfrm>
          <a:prstGeom prst="rect">
            <a:avLst/>
          </a:prstGeom>
          <a:noFill/>
        </p:spPr>
        <p:txBody>
          <a:bodyPr wrap="square" anchor="t" lIns="0" rIns="0" tIns="0" bIns="0">
            <a:spAutoFit/>
          </a:bodyPr>
          <a:lstStyle/>
          <a:p>
            <a:pPr algn="l"/>
            <a:r>
              <a:rPr sz="1300" b="1" i="0">
                <a:solidFill>
                  <a:srgbClr val="00D395"/>
                </a:solidFill>
                <a:latin typeface="Calibri"/>
              </a:rPr>
              <a:t>UNDER THE HOOD</a:t>
            </a:r>
          </a:p>
        </p:txBody>
      </p:sp>
      <p:pic>
        <p:nvPicPr>
          <p:cNvPr id="4" name="Picture 3" descr="logo-icon.png"/>
          <p:cNvPicPr>
            <a:picLocks noChangeAspect="1"/>
          </p:cNvPicPr>
          <p:nvPr/>
        </p:nvPicPr>
        <p:blipFill>
          <a:blip r:embed="rId2"/>
          <a:stretch>
            <a:fillRect/>
          </a:stretch>
        </p:blipFill>
        <p:spPr>
          <a:xfrm>
            <a:off x="457200" y="365760"/>
            <a:ext cx="274320" cy="274320"/>
          </a:xfrm>
          <a:prstGeom prst="rect">
            <a:avLst/>
          </a:prstGeom>
          <a:ln>
            <a:noFill/>
          </a:ln>
          <a:effectLst/>
        </p:spPr>
      </p:pic>
      <p:sp>
        <p:nvSpPr>
          <p:cNvPr id="5" name="TextBox 4"/>
          <p:cNvSpPr txBox="1"/>
          <p:nvPr/>
        </p:nvSpPr>
        <p:spPr>
          <a:xfrm>
            <a:off x="914400" y="868680"/>
            <a:ext cx="10360152" cy="548640"/>
          </a:xfrm>
          <a:prstGeom prst="rect">
            <a:avLst/>
          </a:prstGeom>
          <a:noFill/>
        </p:spPr>
        <p:txBody>
          <a:bodyPr wrap="square" anchor="t" lIns="0" rIns="0" tIns="0" bIns="0">
            <a:spAutoFit/>
          </a:bodyPr>
          <a:lstStyle/>
          <a:p>
            <a:pPr algn="ctr"/>
            <a:r>
              <a:rPr sz="2900" b="1" i="0">
                <a:solidFill>
                  <a:srgbClr val="FFFFFF"/>
                </a:solidFill>
                <a:latin typeface="Calibri"/>
              </a:rPr>
              <a:t>How Coverage Becomes a Claim</a:t>
            </a:r>
          </a:p>
        </p:txBody>
      </p:sp>
      <p:sp>
        <p:nvSpPr>
          <p:cNvPr id="6" name="Rounded Rectangle 5"/>
          <p:cNvSpPr/>
          <p:nvPr/>
        </p:nvSpPr>
        <p:spPr>
          <a:xfrm>
            <a:off x="502920" y="2011680"/>
            <a:ext cx="1627632" cy="868680"/>
          </a:xfrm>
          <a:prstGeom prst="roundRect">
            <a:avLst>
              <a:gd name="adj" fmla="val 8000"/>
            </a:avLst>
          </a:prstGeom>
          <a:solidFill>
            <a:srgbClr val="1E2433"/>
          </a:solidFill>
          <a:ln w="25400">
            <a:solidFill>
              <a:srgbClr val="00D3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011680"/>
            <a:ext cx="1627632" cy="868680"/>
          </a:xfrm>
          <a:prstGeom prst="rect">
            <a:avLst/>
          </a:prstGeom>
          <a:noFill/>
        </p:spPr>
        <p:txBody>
          <a:bodyPr wrap="square" anchor="ctr" lIns="0" rIns="0" tIns="0" bIns="0">
            <a:spAutoFit/>
          </a:bodyPr>
          <a:lstStyle/>
          <a:p>
            <a:pPr algn="ctr"/>
            <a:r>
              <a:rPr sz="1150" b="1" i="0">
                <a:solidFill>
                  <a:srgbClr val="FFFFFF"/>
                </a:solidFill>
                <a:latin typeface="Consolas"/>
              </a:rPr>
              <a:t>LP Deposits</a:t>
            </a:r>
          </a:p>
        </p:txBody>
      </p:sp>
      <p:sp>
        <p:nvSpPr>
          <p:cNvPr id="8" name="TextBox 7"/>
          <p:cNvSpPr txBox="1"/>
          <p:nvPr/>
        </p:nvSpPr>
        <p:spPr>
          <a:xfrm>
            <a:off x="2089404" y="2217420"/>
            <a:ext cx="457200" cy="457200"/>
          </a:xfrm>
          <a:prstGeom prst="rect">
            <a:avLst/>
          </a:prstGeom>
          <a:noFill/>
        </p:spPr>
        <p:txBody>
          <a:bodyPr wrap="square" anchor="ctr" lIns="0" rIns="0" tIns="0" bIns="0">
            <a:spAutoFit/>
          </a:bodyPr>
          <a:lstStyle/>
          <a:p>
            <a:pPr algn="ctr"/>
            <a:r>
              <a:rPr sz="2400" b="1" i="0">
                <a:solidFill>
                  <a:srgbClr val="00D395"/>
                </a:solidFill>
                <a:latin typeface="Calibri"/>
              </a:rPr>
              <a:t>→</a:t>
            </a:r>
          </a:p>
        </p:txBody>
      </p:sp>
      <p:sp>
        <p:nvSpPr>
          <p:cNvPr id="9" name="Rounded Rectangle 8"/>
          <p:cNvSpPr/>
          <p:nvPr/>
        </p:nvSpPr>
        <p:spPr>
          <a:xfrm>
            <a:off x="2414015" y="2011680"/>
            <a:ext cx="1627632" cy="868680"/>
          </a:xfrm>
          <a:prstGeom prst="roundRect">
            <a:avLst>
              <a:gd name="adj" fmla="val 8000"/>
            </a:avLst>
          </a:prstGeom>
          <a:solidFill>
            <a:srgbClr val="1E2433"/>
          </a:solidFill>
          <a:ln w="25400">
            <a:solidFill>
              <a:srgbClr val="00D3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14015" y="2011680"/>
            <a:ext cx="1627632" cy="868680"/>
          </a:xfrm>
          <a:prstGeom prst="rect">
            <a:avLst/>
          </a:prstGeom>
          <a:noFill/>
        </p:spPr>
        <p:txBody>
          <a:bodyPr wrap="square" anchor="ctr" lIns="0" rIns="0" tIns="0" bIns="0">
            <a:spAutoFit/>
          </a:bodyPr>
          <a:lstStyle/>
          <a:p>
            <a:pPr algn="ctr"/>
            <a:r>
              <a:rPr sz="1150" b="1" i="0">
                <a:solidFill>
                  <a:srgbClr val="FFFFFF"/>
                </a:solidFill>
                <a:latin typeface="Consolas"/>
              </a:rPr>
              <a:t>_accrue()</a:t>
            </a:r>
          </a:p>
        </p:txBody>
      </p:sp>
      <p:sp>
        <p:nvSpPr>
          <p:cNvPr id="11" name="TextBox 10"/>
          <p:cNvSpPr txBox="1"/>
          <p:nvPr/>
        </p:nvSpPr>
        <p:spPr>
          <a:xfrm>
            <a:off x="4000500" y="2217420"/>
            <a:ext cx="457200" cy="457200"/>
          </a:xfrm>
          <a:prstGeom prst="rect">
            <a:avLst/>
          </a:prstGeom>
          <a:noFill/>
        </p:spPr>
        <p:txBody>
          <a:bodyPr wrap="square" anchor="ctr" lIns="0" rIns="0" tIns="0" bIns="0">
            <a:spAutoFit/>
          </a:bodyPr>
          <a:lstStyle/>
          <a:p>
            <a:pPr algn="ctr"/>
            <a:r>
              <a:rPr sz="2400" b="1" i="0">
                <a:solidFill>
                  <a:srgbClr val="00D395"/>
                </a:solidFill>
                <a:latin typeface="Calibri"/>
              </a:rPr>
              <a:t>→</a:t>
            </a:r>
          </a:p>
        </p:txBody>
      </p:sp>
      <p:sp>
        <p:nvSpPr>
          <p:cNvPr id="12" name="Rounded Rectangle 11"/>
          <p:cNvSpPr/>
          <p:nvPr/>
        </p:nvSpPr>
        <p:spPr>
          <a:xfrm>
            <a:off x="4325112" y="2011680"/>
            <a:ext cx="1627632" cy="868680"/>
          </a:xfrm>
          <a:prstGeom prst="roundRect">
            <a:avLst>
              <a:gd name="adj" fmla="val 8000"/>
            </a:avLst>
          </a:prstGeom>
          <a:solidFill>
            <a:srgbClr val="1E2433"/>
          </a:solidFill>
          <a:ln w="25400">
            <a:solidFill>
              <a:srgbClr val="00D3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25112" y="2011680"/>
            <a:ext cx="1627632" cy="868680"/>
          </a:xfrm>
          <a:prstGeom prst="rect">
            <a:avLst/>
          </a:prstGeom>
          <a:noFill/>
        </p:spPr>
        <p:txBody>
          <a:bodyPr wrap="square" anchor="ctr" lIns="0" rIns="0" tIns="0" bIns="0">
            <a:spAutoFit/>
          </a:bodyPr>
          <a:lstStyle/>
          <a:p>
            <a:pPr algn="ctr"/>
            <a:r>
              <a:rPr sz="1150" b="1" i="0">
                <a:solidFill>
                  <a:srgbClr val="FFFFFF"/>
                </a:solidFill>
                <a:latin typeface="Consolas"/>
              </a:rPr>
              <a:t>afterSwap()</a:t>
            </a:r>
          </a:p>
        </p:txBody>
      </p:sp>
      <p:sp>
        <p:nvSpPr>
          <p:cNvPr id="14" name="TextBox 13"/>
          <p:cNvSpPr txBox="1"/>
          <p:nvPr/>
        </p:nvSpPr>
        <p:spPr>
          <a:xfrm>
            <a:off x="5911596" y="2217420"/>
            <a:ext cx="457200" cy="457200"/>
          </a:xfrm>
          <a:prstGeom prst="rect">
            <a:avLst/>
          </a:prstGeom>
          <a:noFill/>
        </p:spPr>
        <p:txBody>
          <a:bodyPr wrap="square" anchor="ctr" lIns="0" rIns="0" tIns="0" bIns="0">
            <a:spAutoFit/>
          </a:bodyPr>
          <a:lstStyle/>
          <a:p>
            <a:pPr algn="ctr"/>
            <a:r>
              <a:rPr sz="2400" b="1" i="0">
                <a:solidFill>
                  <a:srgbClr val="00D395"/>
                </a:solidFill>
                <a:latin typeface="Calibri"/>
              </a:rPr>
              <a:t>→</a:t>
            </a:r>
          </a:p>
        </p:txBody>
      </p:sp>
      <p:sp>
        <p:nvSpPr>
          <p:cNvPr id="15" name="Rounded Rectangle 14"/>
          <p:cNvSpPr/>
          <p:nvPr/>
        </p:nvSpPr>
        <p:spPr>
          <a:xfrm>
            <a:off x="6236207" y="2011680"/>
            <a:ext cx="1627632" cy="868680"/>
          </a:xfrm>
          <a:prstGeom prst="roundRect">
            <a:avLst>
              <a:gd name="adj" fmla="val 8000"/>
            </a:avLst>
          </a:prstGeom>
          <a:solidFill>
            <a:srgbClr val="1E2433"/>
          </a:solidFill>
          <a:ln w="25400">
            <a:solidFill>
              <a:srgbClr val="00D3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6207" y="2011680"/>
            <a:ext cx="1627632" cy="868680"/>
          </a:xfrm>
          <a:prstGeom prst="rect">
            <a:avLst/>
          </a:prstGeom>
          <a:noFill/>
        </p:spPr>
        <p:txBody>
          <a:bodyPr wrap="square" anchor="ctr" lIns="0" rIns="0" tIns="0" bIns="0">
            <a:spAutoFit/>
          </a:bodyPr>
          <a:lstStyle/>
          <a:p>
            <a:pPr algn="ctr"/>
            <a:r>
              <a:rPr sz="1150" b="1" i="0">
                <a:solidFill>
                  <a:srgbClr val="FFFFFF"/>
                </a:solidFill>
                <a:latin typeface="Consolas"/>
              </a:rPr>
              <a:t>_computeIL()</a:t>
            </a:r>
          </a:p>
        </p:txBody>
      </p:sp>
      <p:sp>
        <p:nvSpPr>
          <p:cNvPr id="17" name="TextBox 16"/>
          <p:cNvSpPr txBox="1"/>
          <p:nvPr/>
        </p:nvSpPr>
        <p:spPr>
          <a:xfrm>
            <a:off x="7822692" y="2217420"/>
            <a:ext cx="457200" cy="457200"/>
          </a:xfrm>
          <a:prstGeom prst="rect">
            <a:avLst/>
          </a:prstGeom>
          <a:noFill/>
        </p:spPr>
        <p:txBody>
          <a:bodyPr wrap="square" anchor="ctr" lIns="0" rIns="0" tIns="0" bIns="0">
            <a:spAutoFit/>
          </a:bodyPr>
          <a:lstStyle/>
          <a:p>
            <a:pPr algn="ctr"/>
            <a:r>
              <a:rPr sz="2400" b="1" i="0">
                <a:solidFill>
                  <a:srgbClr val="00D395"/>
                </a:solidFill>
                <a:latin typeface="Calibri"/>
              </a:rPr>
              <a:t>→</a:t>
            </a:r>
          </a:p>
        </p:txBody>
      </p:sp>
      <p:sp>
        <p:nvSpPr>
          <p:cNvPr id="18" name="Rounded Rectangle 17"/>
          <p:cNvSpPr/>
          <p:nvPr/>
        </p:nvSpPr>
        <p:spPr>
          <a:xfrm>
            <a:off x="8147304" y="2011680"/>
            <a:ext cx="1627632" cy="868680"/>
          </a:xfrm>
          <a:prstGeom prst="roundRect">
            <a:avLst>
              <a:gd name="adj" fmla="val 8000"/>
            </a:avLst>
          </a:prstGeom>
          <a:solidFill>
            <a:srgbClr val="1E2433"/>
          </a:solidFill>
          <a:ln w="25400">
            <a:solidFill>
              <a:srgbClr val="00D3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47304" y="2011680"/>
            <a:ext cx="1627632" cy="868680"/>
          </a:xfrm>
          <a:prstGeom prst="rect">
            <a:avLst/>
          </a:prstGeom>
          <a:noFill/>
        </p:spPr>
        <p:txBody>
          <a:bodyPr wrap="square" anchor="ctr" lIns="0" rIns="0" tIns="0" bIns="0">
            <a:spAutoFit/>
          </a:bodyPr>
          <a:lstStyle/>
          <a:p>
            <a:pPr algn="ctr"/>
            <a:r>
              <a:rPr sz="1150" b="1" i="0">
                <a:solidFill>
                  <a:srgbClr val="FFFFFF"/>
                </a:solidFill>
                <a:latin typeface="Consolas"/>
              </a:rPr>
              <a:t>_computePayout()</a:t>
            </a:r>
          </a:p>
        </p:txBody>
      </p:sp>
      <p:sp>
        <p:nvSpPr>
          <p:cNvPr id="20" name="TextBox 19"/>
          <p:cNvSpPr txBox="1"/>
          <p:nvPr/>
        </p:nvSpPr>
        <p:spPr>
          <a:xfrm>
            <a:off x="9733788" y="2217420"/>
            <a:ext cx="457200" cy="457200"/>
          </a:xfrm>
          <a:prstGeom prst="rect">
            <a:avLst/>
          </a:prstGeom>
          <a:noFill/>
        </p:spPr>
        <p:txBody>
          <a:bodyPr wrap="square" anchor="ctr" lIns="0" rIns="0" tIns="0" bIns="0">
            <a:spAutoFit/>
          </a:bodyPr>
          <a:lstStyle/>
          <a:p>
            <a:pPr algn="ctr"/>
            <a:r>
              <a:rPr sz="2400" b="1" i="0">
                <a:solidFill>
                  <a:srgbClr val="00D395"/>
                </a:solidFill>
                <a:latin typeface="Calibri"/>
              </a:rPr>
              <a:t>→</a:t>
            </a:r>
          </a:p>
        </p:txBody>
      </p:sp>
      <p:sp>
        <p:nvSpPr>
          <p:cNvPr id="21" name="Rounded Rectangle 20"/>
          <p:cNvSpPr/>
          <p:nvPr/>
        </p:nvSpPr>
        <p:spPr>
          <a:xfrm>
            <a:off x="10058400" y="2011680"/>
            <a:ext cx="1627632" cy="868680"/>
          </a:xfrm>
          <a:prstGeom prst="roundRect">
            <a:avLst>
              <a:gd name="adj" fmla="val 8000"/>
            </a:avLst>
          </a:prstGeom>
          <a:solidFill>
            <a:srgbClr val="1E2433"/>
          </a:solidFill>
          <a:ln w="25400">
            <a:solidFill>
              <a:srgbClr val="00D3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0" y="2011680"/>
            <a:ext cx="1627632" cy="868680"/>
          </a:xfrm>
          <a:prstGeom prst="rect">
            <a:avLst/>
          </a:prstGeom>
          <a:noFill/>
        </p:spPr>
        <p:txBody>
          <a:bodyPr wrap="square" anchor="ctr" lIns="0" rIns="0" tIns="0" bIns="0">
            <a:spAutoFit/>
          </a:bodyPr>
          <a:lstStyle/>
          <a:p>
            <a:pPr algn="ctr"/>
            <a:r>
              <a:rPr sz="1150" b="1" i="0">
                <a:solidFill>
                  <a:srgbClr val="FFFFFF"/>
                </a:solidFill>
                <a:latin typeface="Consolas"/>
              </a:rPr>
              <a:t>ClaimSettled</a:t>
            </a:r>
          </a:p>
        </p:txBody>
      </p:sp>
      <p:sp>
        <p:nvSpPr>
          <p:cNvPr id="23" name="Rounded Rectangle 22"/>
          <p:cNvSpPr/>
          <p:nvPr/>
        </p:nvSpPr>
        <p:spPr>
          <a:xfrm>
            <a:off x="777240" y="3611880"/>
            <a:ext cx="5120640" cy="1783080"/>
          </a:xfrm>
          <a:prstGeom prst="roundRect">
            <a:avLst>
              <a:gd name="adj" fmla="val 8000"/>
            </a:avLst>
          </a:prstGeom>
          <a:solidFill>
            <a:srgbClr val="1E2433"/>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3840480"/>
            <a:ext cx="4617720" cy="1371600"/>
          </a:xfrm>
          <a:prstGeom prst="rect">
            <a:avLst/>
          </a:prstGeom>
          <a:noFill/>
        </p:spPr>
        <p:txBody>
          <a:bodyPr wrap="square" anchor="t" lIns="0" rIns="0" tIns="0" bIns="0">
            <a:spAutoFit/>
          </a:bodyPr>
          <a:lstStyle/>
          <a:p>
            <a:pPr algn="l">
              <a:spcAft>
                <a:spcPts val="600"/>
              </a:spcAft>
            </a:pPr>
            <a:r>
              <a:rPr sz="1600" b="1" i="0">
                <a:solidFill>
                  <a:srgbClr val="F59E0B"/>
                </a:solidFill>
                <a:latin typeface="Calibri"/>
              </a:rPr>
              <a:t>⚡  Swaps never iterate positions</a:t>
            </a:r>
          </a:p>
          <a:p>
            <a:pPr algn="l">
              <a:spcAft>
                <a:spcPts val="400"/>
              </a:spcAft>
            </a:pPr>
            <a:r>
              <a:rPr sz="1500" b="0" i="0">
                <a:solidFill>
                  <a:srgbClr val="FFFFFF"/>
                </a:solidFill>
                <a:latin typeface="Calibri"/>
              </a:rPr>
              <a:t>Accrual is lazy, position-specific</a:t>
            </a:r>
          </a:p>
          <a:p>
            <a:pPr algn="l"/>
            <a:r>
              <a:rPr sz="1500" b="1" i="0">
                <a:solidFill>
                  <a:srgbClr val="FFFFFF"/>
                </a:solidFill>
                <a:latin typeface="Calibri"/>
              </a:rPr>
              <a:t>O(1) gas on every swap</a:t>
            </a:r>
          </a:p>
        </p:txBody>
      </p:sp>
      <p:sp>
        <p:nvSpPr>
          <p:cNvPr id="25" name="Rounded Rectangle 24"/>
          <p:cNvSpPr/>
          <p:nvPr/>
        </p:nvSpPr>
        <p:spPr>
          <a:xfrm>
            <a:off x="6172200" y="3611880"/>
            <a:ext cx="5212080" cy="1783080"/>
          </a:xfrm>
          <a:prstGeom prst="roundRect">
            <a:avLst>
              <a:gd name="adj" fmla="val 8000"/>
            </a:avLst>
          </a:prstGeom>
          <a:solidFill>
            <a:srgbClr val="1E2433"/>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840480"/>
            <a:ext cx="4754880" cy="1417320"/>
          </a:xfrm>
          <a:prstGeom prst="rect">
            <a:avLst/>
          </a:prstGeom>
          <a:noFill/>
        </p:spPr>
        <p:txBody>
          <a:bodyPr wrap="square" anchor="t" lIns="0" rIns="0" tIns="0" bIns="0">
            <a:spAutoFit/>
          </a:bodyPr>
          <a:lstStyle/>
          <a:p>
            <a:pPr algn="l">
              <a:spcAft>
                <a:spcPts val="600"/>
              </a:spcAft>
            </a:pPr>
            <a:r>
              <a:rPr sz="1600" b="1" i="0">
                <a:solidFill>
                  <a:srgbClr val="F59E0B"/>
                </a:solidFill>
                <a:latin typeface="Calibri"/>
              </a:rPr>
              <a:t>⚡  Actual/365 Fixed day-count</a:t>
            </a:r>
          </a:p>
          <a:p>
            <a:pPr algn="l">
              <a:spcAft>
                <a:spcPts val="400"/>
              </a:spcAft>
            </a:pPr>
            <a:r>
              <a:rPr sz="1400" b="0" i="0">
                <a:solidFill>
                  <a:srgbClr val="FFFFFF"/>
                </a:solidFill>
                <a:latin typeface="Consolas"/>
              </a:rPr>
              <a:t>Coverage = Notional × APR × (days ÷ 365)</a:t>
            </a:r>
          </a:p>
          <a:p>
            <a:pPr algn="l"/>
            <a:r>
              <a:rPr sz="1500" b="0" i="0">
                <a:solidFill>
                  <a:srgbClr val="FFFFFF"/>
                </a:solidFill>
                <a:latin typeface="Calibri"/>
              </a:rPr>
              <a:t>Same convention as fixed-income finance</a:t>
            </a:r>
          </a:p>
        </p:txBody>
      </p:sp>
      <p:sp>
        <p:nvSpPr>
          <p:cNvPr id="27" name="TextBox 26"/>
          <p:cNvSpPr txBox="1"/>
          <p:nvPr/>
        </p:nvSpPr>
        <p:spPr>
          <a:xfrm>
            <a:off x="914400" y="5852160"/>
            <a:ext cx="10360152" cy="457200"/>
          </a:xfrm>
          <a:prstGeom prst="rect">
            <a:avLst/>
          </a:prstGeom>
          <a:noFill/>
        </p:spPr>
        <p:txBody>
          <a:bodyPr wrap="square" anchor="ctr" lIns="0" rIns="0" tIns="0" bIns="0">
            <a:spAutoFit/>
          </a:bodyPr>
          <a:lstStyle/>
          <a:p>
            <a:pPr algn="ctr"/>
            <a:r>
              <a:rPr sz="1800" b="1" i="0">
                <a:solidFill>
                  <a:srgbClr val="00D395"/>
                </a:solidFill>
                <a:latin typeface="Calibri"/>
              </a:rPr>
              <a:t>One lifecycle. Fully on-chain. No off-chain assumptions.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con.png"/>
          <p:cNvPicPr>
            <a:picLocks noChangeAspect="1"/>
          </p:cNvPicPr>
          <p:nvPr/>
        </p:nvPicPr>
        <p:blipFill>
          <a:blip r:embed="rId2"/>
          <a:stretch>
            <a:fillRect/>
          </a:stretch>
        </p:blipFill>
        <p:spPr>
          <a:xfrm>
            <a:off x="4865979" y="265176"/>
            <a:ext cx="475488" cy="475488"/>
          </a:xfrm>
          <a:prstGeom prst="rect">
            <a:avLst/>
          </a:prstGeom>
          <a:ln>
            <a:noFill/>
          </a:ln>
          <a:effectLst/>
        </p:spPr>
      </p:pic>
      <p:sp>
        <p:nvSpPr>
          <p:cNvPr id="4" name="TextBox 3"/>
          <p:cNvSpPr txBox="1"/>
          <p:nvPr/>
        </p:nvSpPr>
        <p:spPr>
          <a:xfrm>
            <a:off x="5451195" y="274320"/>
            <a:ext cx="1874519" cy="457200"/>
          </a:xfrm>
          <a:prstGeom prst="rect">
            <a:avLst/>
          </a:prstGeom>
          <a:noFill/>
        </p:spPr>
        <p:txBody>
          <a:bodyPr wrap="none" anchor="ctr" lIns="0" rIns="0" tIns="0" bIns="0">
            <a:spAutoFit/>
          </a:bodyPr>
          <a:lstStyle/>
          <a:p>
            <a:pPr algn="l"/>
            <a:r>
              <a:rPr sz="2700" b="1" i="0">
                <a:solidFill>
                  <a:srgbClr val="FFFFFF"/>
                </a:solidFill>
                <a:latin typeface="Calibri"/>
              </a:rPr>
              <a:t>RangeGuard</a:t>
            </a:r>
          </a:p>
        </p:txBody>
      </p:sp>
      <p:sp>
        <p:nvSpPr>
          <p:cNvPr id="5" name="TextBox 4"/>
          <p:cNvSpPr txBox="1"/>
          <p:nvPr/>
        </p:nvSpPr>
        <p:spPr>
          <a:xfrm>
            <a:off x="914400" y="868680"/>
            <a:ext cx="10360152" cy="502920"/>
          </a:xfrm>
          <a:prstGeom prst="rect">
            <a:avLst/>
          </a:prstGeom>
          <a:noFill/>
        </p:spPr>
        <p:txBody>
          <a:bodyPr wrap="square" anchor="ctr" lIns="0" rIns="0" tIns="0" bIns="0">
            <a:spAutoFit/>
          </a:bodyPr>
          <a:lstStyle/>
          <a:p>
            <a:pPr algn="ctr"/>
            <a:r>
              <a:rPr sz="2200" b="1" i="1">
                <a:solidFill>
                  <a:srgbClr val="00D395"/>
                </a:solidFill>
                <a:latin typeface="Calibri"/>
              </a:rPr>
              <a:t>“Protect your liquidity. Guard your range.”</a:t>
            </a:r>
          </a:p>
        </p:txBody>
      </p:sp>
      <p:sp>
        <p:nvSpPr>
          <p:cNvPr id="6" name="TextBox 5"/>
          <p:cNvSpPr txBox="1"/>
          <p:nvPr/>
        </p:nvSpPr>
        <p:spPr>
          <a:xfrm>
            <a:off x="2103120" y="1508760"/>
            <a:ext cx="8229600" cy="1143000"/>
          </a:xfrm>
          <a:prstGeom prst="rect">
            <a:avLst/>
          </a:prstGeom>
          <a:noFill/>
        </p:spPr>
        <p:txBody>
          <a:bodyPr wrap="square" anchor="t" lIns="0" rIns="0" tIns="0" bIns="0">
            <a:spAutoFit/>
          </a:bodyPr>
          <a:lstStyle/>
          <a:p>
            <a:pPr algn="l"/>
            <a:r>
              <a:rPr sz="1600" b="1" i="0">
                <a:solidFill>
                  <a:srgbClr val="00D395"/>
                </a:solidFill>
                <a:latin typeface="Calibri"/>
              </a:rPr>
              <a:t>✓  </a:t>
            </a:r>
            <a:r>
              <a:rPr sz="1600" b="0" i="0">
                <a:solidFill>
                  <a:srgbClr val="FFFFFF"/>
                </a:solidFill>
                <a:latin typeface="Calibri"/>
              </a:rPr>
              <a:t>Native IL coverage — built into the pool, not bolted on</a:t>
            </a:r>
          </a:p>
          <a:p>
            <a:pPr algn="l"/>
            <a:r>
              <a:rPr sz="1600" b="1" i="0">
                <a:solidFill>
                  <a:srgbClr val="00D395"/>
                </a:solidFill>
                <a:latin typeface="Calibri"/>
              </a:rPr>
              <a:t>✓  </a:t>
            </a:r>
            <a:r>
              <a:rPr sz="1600" b="0" i="0">
                <a:solidFill>
                  <a:srgbClr val="FFFFFF"/>
                </a:solidFill>
                <a:latin typeface="Calibri"/>
              </a:rPr>
              <a:t>Self-funding buffer — swap fees cover the claims</a:t>
            </a:r>
          </a:p>
          <a:p>
            <a:pPr algn="l"/>
            <a:r>
              <a:rPr sz="1600" b="1" i="0">
                <a:solidFill>
                  <a:srgbClr val="00D395"/>
                </a:solidFill>
                <a:latin typeface="Calibri"/>
              </a:rPr>
              <a:t>✓  </a:t>
            </a:r>
            <a:r>
              <a:rPr sz="1600" b="0" i="0">
                <a:solidFill>
                  <a:srgbClr val="FFFFFF"/>
                </a:solidFill>
                <a:latin typeface="Calibri"/>
              </a:rPr>
              <a:t>Capped payouts — actuarially sound, buffer protected</a:t>
            </a:r>
          </a:p>
          <a:p>
            <a:pPr algn="l"/>
            <a:r>
              <a:rPr sz="1600" b="1" i="0">
                <a:solidFill>
                  <a:srgbClr val="00D395"/>
                </a:solidFill>
                <a:latin typeface="Calibri"/>
              </a:rPr>
              <a:t>✓  </a:t>
            </a:r>
            <a:r>
              <a:rPr sz="1600" b="0" i="0">
                <a:solidFill>
                  <a:srgbClr val="FFFFFF"/>
                </a:solidFill>
                <a:latin typeface="Calibri"/>
              </a:rPr>
              <a:t>Fully auditable — every accrual verifiable on-chain</a:t>
            </a:r>
          </a:p>
        </p:txBody>
      </p:sp>
      <p:sp>
        <p:nvSpPr>
          <p:cNvPr id="7" name="Rounded Rectangle 6"/>
          <p:cNvSpPr/>
          <p:nvPr/>
        </p:nvSpPr>
        <p:spPr>
          <a:xfrm>
            <a:off x="1554480" y="2743200"/>
            <a:ext cx="9079992" cy="1463040"/>
          </a:xfrm>
          <a:prstGeom prst="roundRect">
            <a:avLst>
              <a:gd name="adj" fmla="val 8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74519" y="2852928"/>
            <a:ext cx="3017520" cy="329184"/>
          </a:xfrm>
          <a:prstGeom prst="rect">
            <a:avLst/>
          </a:prstGeom>
          <a:noFill/>
        </p:spPr>
        <p:txBody>
          <a:bodyPr wrap="square" anchor="ctr" lIns="0" rIns="0" tIns="0" bIns="0">
            <a:spAutoFit/>
          </a:bodyPr>
          <a:lstStyle/>
          <a:p>
            <a:pPr algn="l"/>
            <a:r>
              <a:rPr sz="1350" b="1" i="0">
                <a:solidFill>
                  <a:srgbClr val="00D395"/>
                </a:solidFill>
                <a:latin typeface="Calibri"/>
              </a:rPr>
              <a:t>Who Benefits</a:t>
            </a:r>
          </a:p>
        </p:txBody>
      </p:sp>
      <p:sp>
        <p:nvSpPr>
          <p:cNvPr id="9" name="TextBox 8"/>
          <p:cNvSpPr txBox="1"/>
          <p:nvPr/>
        </p:nvSpPr>
        <p:spPr>
          <a:xfrm>
            <a:off x="4937760" y="2852928"/>
            <a:ext cx="5486400" cy="329184"/>
          </a:xfrm>
          <a:prstGeom prst="rect">
            <a:avLst/>
          </a:prstGeom>
          <a:noFill/>
        </p:spPr>
        <p:txBody>
          <a:bodyPr wrap="square" anchor="ctr" lIns="0" rIns="0" tIns="0" bIns="0">
            <a:spAutoFit/>
          </a:bodyPr>
          <a:lstStyle/>
          <a:p>
            <a:pPr algn="l"/>
            <a:r>
              <a:rPr sz="1300" b="0" i="0">
                <a:solidFill>
                  <a:srgbClr val="94A3B8"/>
                </a:solidFill>
                <a:latin typeface="Calibri"/>
              </a:rPr>
              <a:t>Why It Matters</a:t>
            </a:r>
          </a:p>
        </p:txBody>
      </p:sp>
      <p:sp>
        <p:nvSpPr>
          <p:cNvPr id="10" name="Rectangle 9"/>
          <p:cNvSpPr/>
          <p:nvPr/>
        </p:nvSpPr>
        <p:spPr>
          <a:xfrm>
            <a:off x="1874519" y="3163824"/>
            <a:ext cx="8412480" cy="1270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74519" y="3182112"/>
            <a:ext cx="3017520" cy="329184"/>
          </a:xfrm>
          <a:prstGeom prst="rect">
            <a:avLst/>
          </a:prstGeom>
          <a:noFill/>
        </p:spPr>
        <p:txBody>
          <a:bodyPr wrap="square" anchor="ctr" lIns="0" rIns="0" tIns="0" bIns="0">
            <a:spAutoFit/>
          </a:bodyPr>
          <a:lstStyle/>
          <a:p>
            <a:pPr algn="l"/>
            <a:r>
              <a:rPr sz="1350" b="1" i="0">
                <a:solidFill>
                  <a:srgbClr val="FFFFFF"/>
                </a:solidFill>
                <a:latin typeface="Calibri"/>
              </a:rPr>
              <a:t>Passive LPs</a:t>
            </a:r>
          </a:p>
        </p:txBody>
      </p:sp>
      <p:sp>
        <p:nvSpPr>
          <p:cNvPr id="12" name="TextBox 11"/>
          <p:cNvSpPr txBox="1"/>
          <p:nvPr/>
        </p:nvSpPr>
        <p:spPr>
          <a:xfrm>
            <a:off x="4937760" y="3182112"/>
            <a:ext cx="5486400" cy="329184"/>
          </a:xfrm>
          <a:prstGeom prst="rect">
            <a:avLst/>
          </a:prstGeom>
          <a:noFill/>
        </p:spPr>
        <p:txBody>
          <a:bodyPr wrap="square" anchor="ctr" lIns="0" rIns="0" tIns="0" bIns="0">
            <a:spAutoFit/>
          </a:bodyPr>
          <a:lstStyle/>
          <a:p>
            <a:pPr algn="l"/>
            <a:r>
              <a:rPr sz="1300" b="0" i="0">
                <a:solidFill>
                  <a:srgbClr val="94A3B8"/>
                </a:solidFill>
                <a:latin typeface="Calibri"/>
              </a:rPr>
              <a:t>Downside protection without complex hedging</a:t>
            </a:r>
          </a:p>
        </p:txBody>
      </p:sp>
      <p:sp>
        <p:nvSpPr>
          <p:cNvPr id="13" name="TextBox 12"/>
          <p:cNvSpPr txBox="1"/>
          <p:nvPr/>
        </p:nvSpPr>
        <p:spPr>
          <a:xfrm>
            <a:off x="1874519" y="3511296"/>
            <a:ext cx="3017520" cy="329184"/>
          </a:xfrm>
          <a:prstGeom prst="rect">
            <a:avLst/>
          </a:prstGeom>
          <a:noFill/>
        </p:spPr>
        <p:txBody>
          <a:bodyPr wrap="square" anchor="ctr" lIns="0" rIns="0" tIns="0" bIns="0">
            <a:spAutoFit/>
          </a:bodyPr>
          <a:lstStyle/>
          <a:p>
            <a:pPr algn="l"/>
            <a:r>
              <a:rPr sz="1350" b="1" i="0">
                <a:solidFill>
                  <a:srgbClr val="FFFFFF"/>
                </a:solidFill>
                <a:latin typeface="Calibri"/>
              </a:rPr>
              <a:t>Protocols / DAOs</a:t>
            </a:r>
          </a:p>
        </p:txBody>
      </p:sp>
      <p:sp>
        <p:nvSpPr>
          <p:cNvPr id="14" name="TextBox 13"/>
          <p:cNvSpPr txBox="1"/>
          <p:nvPr/>
        </p:nvSpPr>
        <p:spPr>
          <a:xfrm>
            <a:off x="4937760" y="3511296"/>
            <a:ext cx="5486400" cy="329184"/>
          </a:xfrm>
          <a:prstGeom prst="rect">
            <a:avLst/>
          </a:prstGeom>
          <a:noFill/>
        </p:spPr>
        <p:txBody>
          <a:bodyPr wrap="square" anchor="ctr" lIns="0" rIns="0" tIns="0" bIns="0">
            <a:spAutoFit/>
          </a:bodyPr>
          <a:lstStyle/>
          <a:p>
            <a:pPr algn="l"/>
            <a:r>
              <a:rPr sz="1300" b="0" i="0">
                <a:solidFill>
                  <a:srgbClr val="94A3B8"/>
                </a:solidFill>
                <a:latin typeface="Calibri"/>
              </a:rPr>
              <a:t>Deeper liquidity without reliance on emissions</a:t>
            </a:r>
          </a:p>
        </p:txBody>
      </p:sp>
      <p:sp>
        <p:nvSpPr>
          <p:cNvPr id="15" name="TextBox 14"/>
          <p:cNvSpPr txBox="1"/>
          <p:nvPr/>
        </p:nvSpPr>
        <p:spPr>
          <a:xfrm>
            <a:off x="1874519" y="3840480"/>
            <a:ext cx="3017520" cy="329184"/>
          </a:xfrm>
          <a:prstGeom prst="rect">
            <a:avLst/>
          </a:prstGeom>
          <a:noFill/>
        </p:spPr>
        <p:txBody>
          <a:bodyPr wrap="square" anchor="ctr" lIns="0" rIns="0" tIns="0" bIns="0">
            <a:spAutoFit/>
          </a:bodyPr>
          <a:lstStyle/>
          <a:p>
            <a:pPr algn="l"/>
            <a:r>
              <a:rPr sz="1350" b="1" i="0">
                <a:solidFill>
                  <a:srgbClr val="FFFFFF"/>
                </a:solidFill>
                <a:latin typeface="Calibri"/>
              </a:rPr>
              <a:t>Uniswap Ecosystem</a:t>
            </a:r>
          </a:p>
        </p:txBody>
      </p:sp>
      <p:sp>
        <p:nvSpPr>
          <p:cNvPr id="16" name="TextBox 15"/>
          <p:cNvSpPr txBox="1"/>
          <p:nvPr/>
        </p:nvSpPr>
        <p:spPr>
          <a:xfrm>
            <a:off x="4937760" y="3840480"/>
            <a:ext cx="5486400" cy="329184"/>
          </a:xfrm>
          <a:prstGeom prst="rect">
            <a:avLst/>
          </a:prstGeom>
          <a:noFill/>
        </p:spPr>
        <p:txBody>
          <a:bodyPr wrap="square" anchor="ctr" lIns="0" rIns="0" tIns="0" bIns="0">
            <a:spAutoFit/>
          </a:bodyPr>
          <a:lstStyle/>
          <a:p>
            <a:pPr algn="l"/>
            <a:r>
              <a:rPr sz="1300" b="0" i="0">
                <a:solidFill>
                  <a:srgbClr val="94A3B8"/>
                </a:solidFill>
                <a:latin typeface="Calibri"/>
              </a:rPr>
              <a:t>Durable liquidity, tighter spreads, better execution</a:t>
            </a:r>
          </a:p>
        </p:txBody>
      </p:sp>
      <p:sp>
        <p:nvSpPr>
          <p:cNvPr id="17" name="TextBox 16"/>
          <p:cNvSpPr txBox="1"/>
          <p:nvPr/>
        </p:nvSpPr>
        <p:spPr>
          <a:xfrm>
            <a:off x="914400" y="4370832"/>
            <a:ext cx="10360152" cy="411480"/>
          </a:xfrm>
          <a:prstGeom prst="rect">
            <a:avLst/>
          </a:prstGeom>
          <a:noFill/>
        </p:spPr>
        <p:txBody>
          <a:bodyPr wrap="square" anchor="ctr" lIns="0" rIns="0" tIns="0" bIns="0">
            <a:spAutoFit/>
          </a:bodyPr>
          <a:lstStyle/>
          <a:p>
            <a:pPr algn="ctr"/>
            <a:r>
              <a:rPr sz="1900" b="1" i="0">
                <a:solidFill>
                  <a:srgbClr val="00D395"/>
                </a:solidFill>
                <a:latin typeface="Calibri"/>
              </a:rPr>
              <a:t>Earned over time. Funded by swaps. Settled on-chain.</a:t>
            </a:r>
          </a:p>
        </p:txBody>
      </p:sp>
      <p:sp>
        <p:nvSpPr>
          <p:cNvPr id="18" name="Rectangle 17"/>
          <p:cNvSpPr/>
          <p:nvPr/>
        </p:nvSpPr>
        <p:spPr>
          <a:xfrm>
            <a:off x="4722876" y="4846320"/>
            <a:ext cx="2743200" cy="1270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956048"/>
            <a:ext cx="10360152" cy="365760"/>
          </a:xfrm>
          <a:prstGeom prst="rect">
            <a:avLst/>
          </a:prstGeom>
          <a:noFill/>
        </p:spPr>
        <p:txBody>
          <a:bodyPr wrap="square" anchor="ctr" lIns="0" rIns="0" tIns="0" bIns="0">
            <a:spAutoFit/>
          </a:bodyPr>
          <a:lstStyle/>
          <a:p>
            <a:pPr algn="ctr"/>
            <a:r>
              <a:rPr sz="1400" b="1" i="0">
                <a:solidFill>
                  <a:srgbClr val="FFFFFF"/>
                </a:solidFill>
                <a:latin typeface="Calibri"/>
              </a:rPr>
              <a:t>🔗  range-guard.vercel.app      ·      github.com/garykocsis/RangeGuard</a:t>
            </a:r>
          </a:p>
        </p:txBody>
      </p:sp>
      <p:sp>
        <p:nvSpPr>
          <p:cNvPr id="20" name="TextBox 19"/>
          <p:cNvSpPr txBox="1"/>
          <p:nvPr/>
        </p:nvSpPr>
        <p:spPr>
          <a:xfrm>
            <a:off x="4227398" y="5474970"/>
            <a:ext cx="735584" cy="297180"/>
          </a:xfrm>
          <a:prstGeom prst="rect">
            <a:avLst/>
          </a:prstGeom>
          <a:noFill/>
        </p:spPr>
        <p:txBody>
          <a:bodyPr wrap="none" anchor="ctr" lIns="0" rIns="0" tIns="0" bIns="0">
            <a:spAutoFit/>
          </a:bodyPr>
          <a:lstStyle/>
          <a:p>
            <a:pPr algn="l"/>
            <a:r>
              <a:rPr sz="1300" b="0" i="0">
                <a:solidFill>
                  <a:srgbClr val="94A3B8"/>
                </a:solidFill>
                <a:latin typeface="Calibri"/>
              </a:rPr>
              <a:t>Built on</a:t>
            </a:r>
          </a:p>
        </p:txBody>
      </p:sp>
      <p:pic>
        <p:nvPicPr>
          <p:cNvPr id="21" name="Picture 20" descr="uniswap-logo.png"/>
          <p:cNvPicPr>
            <a:picLocks noChangeAspect="1"/>
          </p:cNvPicPr>
          <p:nvPr/>
        </p:nvPicPr>
        <p:blipFill>
          <a:blip r:embed="rId3"/>
          <a:stretch>
            <a:fillRect/>
          </a:stretch>
        </p:blipFill>
        <p:spPr>
          <a:xfrm>
            <a:off x="5054422" y="5477256"/>
            <a:ext cx="292608" cy="292608"/>
          </a:xfrm>
          <a:prstGeom prst="rect">
            <a:avLst/>
          </a:prstGeom>
          <a:ln>
            <a:noFill/>
          </a:ln>
          <a:effectLst/>
        </p:spPr>
      </p:pic>
      <p:sp>
        <p:nvSpPr>
          <p:cNvPr id="22" name="TextBox 21"/>
          <p:cNvSpPr txBox="1"/>
          <p:nvPr/>
        </p:nvSpPr>
        <p:spPr>
          <a:xfrm>
            <a:off x="5529910" y="5440680"/>
            <a:ext cx="221488" cy="365759"/>
          </a:xfrm>
          <a:prstGeom prst="rect">
            <a:avLst/>
          </a:prstGeom>
          <a:noFill/>
        </p:spPr>
        <p:txBody>
          <a:bodyPr wrap="none" anchor="ctr" lIns="0" rIns="0" tIns="0" bIns="0">
            <a:spAutoFit/>
          </a:bodyPr>
          <a:lstStyle/>
          <a:p>
            <a:pPr algn="l"/>
            <a:r>
              <a:rPr sz="1600" b="0" i="0">
                <a:solidFill>
                  <a:srgbClr val="94A3B8"/>
                </a:solidFill>
                <a:latin typeface="Calibri"/>
              </a:rPr>
              <a:t>·</a:t>
            </a:r>
          </a:p>
        </p:txBody>
      </p:sp>
      <p:sp>
        <p:nvSpPr>
          <p:cNvPr id="23" name="TextBox 22"/>
          <p:cNvSpPr txBox="1"/>
          <p:nvPr/>
        </p:nvSpPr>
        <p:spPr>
          <a:xfrm>
            <a:off x="5842838" y="5474970"/>
            <a:ext cx="887476" cy="297180"/>
          </a:xfrm>
          <a:prstGeom prst="rect">
            <a:avLst/>
          </a:prstGeom>
          <a:noFill/>
        </p:spPr>
        <p:txBody>
          <a:bodyPr wrap="none" anchor="ctr" lIns="0" rIns="0" tIns="0" bIns="0">
            <a:spAutoFit/>
          </a:bodyPr>
          <a:lstStyle/>
          <a:p>
            <a:pPr algn="l"/>
            <a:r>
              <a:rPr sz="1300" b="0" i="0">
                <a:solidFill>
                  <a:srgbClr val="94A3B8"/>
                </a:solidFill>
                <a:latin typeface="Calibri"/>
              </a:rPr>
              <a:t>Powered by</a:t>
            </a:r>
          </a:p>
        </p:txBody>
      </p:sp>
      <p:pic>
        <p:nvPicPr>
          <p:cNvPr id="24" name="Picture 23" descr="reactive-logo.png"/>
          <p:cNvPicPr>
            <a:picLocks noChangeAspect="1"/>
          </p:cNvPicPr>
          <p:nvPr/>
        </p:nvPicPr>
        <p:blipFill>
          <a:blip r:embed="rId4"/>
          <a:stretch>
            <a:fillRect/>
          </a:stretch>
        </p:blipFill>
        <p:spPr>
          <a:xfrm>
            <a:off x="6821754" y="5495544"/>
            <a:ext cx="1142543" cy="256032"/>
          </a:xfrm>
          <a:prstGeom prst="rect">
            <a:avLst/>
          </a:prstGeom>
          <a:ln>
            <a:noFill/>
          </a:ln>
          <a:effectLst/>
        </p:spPr>
      </p:pic>
      <p:sp>
        <p:nvSpPr>
          <p:cNvPr id="25" name="TextBox 24"/>
          <p:cNvSpPr txBox="1"/>
          <p:nvPr/>
        </p:nvSpPr>
        <p:spPr>
          <a:xfrm>
            <a:off x="914400" y="6355080"/>
            <a:ext cx="10360152" cy="320040"/>
          </a:xfrm>
          <a:prstGeom prst="rect">
            <a:avLst/>
          </a:prstGeom>
          <a:noFill/>
        </p:spPr>
        <p:txBody>
          <a:bodyPr wrap="square" anchor="ctr" lIns="0" rIns="0" tIns="0" bIns="0">
            <a:spAutoFit/>
          </a:bodyPr>
          <a:lstStyle/>
          <a:p>
            <a:pPr algn="ctr"/>
            <a:r>
              <a:rPr sz="1200" b="0" i="0">
                <a:solidFill>
                  <a:srgbClr val="94A3B8"/>
                </a:solidFill>
                <a:latin typeface="Calibri"/>
              </a:rPr>
              <a:t>292 tests passing   ·   Fuzz tested   ·   Invariant tested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