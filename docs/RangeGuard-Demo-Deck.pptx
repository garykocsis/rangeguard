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Liquidity providers earn swap fees — but they also take on a hidden risk: impermanent loss. When an LP deposits ETH and USDC into an AMM, they are no longer simply holding those assets. As price moves, the pool automatically rebalances their inventory. At withdrawal, the LP may receive a token mix worth less than if they had simply held. In options terms, LPs are implicitly selling volatility — collecting fee premium but bearing downside when the market moves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concrete example. ETH starts at $2,000. You deposit 1 ETH and 2,000 USDC — $4,000 total. The price drops to $1,500. If you had simply held, your portfolio would be worth $3,500. But as an LP, the pool rebalanced your position as the price moved. Your withdrawal value — including fees — is only $3,354. You earned $12 in swap fees but lost $146 to impermanent loss. Net loss: $134. And in Uniswap v4's concentrated liquidity model, tighter ranges amplify this effect — more fees, but more IL exposure.</a:t>
            </a:r>
          </a:p>
          <a:p/>
          <a:p>
            <a:r>
              <a:t>Verbal transition: The next question is — can that downside be measured, covered, and paid out, directly from the pool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RangeGuard is a Uniswap v4 hook that provides native, on-chain impermanent loss coverage for liquidity providers. No premium to pay upfront. No claim form. No off-chain infrastructure. Coverage is built directly into the pool. The day-count basis is important because this is not an arbitrary reward counter — it is coverage accrual, calculated using the same Actual/365 Fixed convention used in fixed-income finance. LPs can estimate their coverage before depositing, and anyone can verify every accrual event.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economics are self-sustaining. LPs provide liquidity, traders use the pool, swaps generate fees, and a small portion of every fee — the buffer slice — funds the coverage buffer. When a position closes, the buffer pays the capped IL claim. The buffer grows from the very swap activity that that LP liquidity enables. No external capital required.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RangeGuard is built on five pillars. Accrual gating — coverage only earns while in range. Buffer funding — every swap contributes automatically. Claim settlement — IL is computed and paid in the same withdrawal transaction, capped by three limits: covered IL, earned coverage, and buffer capacity. LP transparency — the key differentiator — a verifiable day-by-day coverage statement from pure on-chain events. And pool configuration — immutable parameters, so LPs always know what they signed up for.</a:t>
            </a:r>
          </a:p>
          <a:p/>
          <a:p>
            <a:r>
              <a:t>Verbal transition: Let me show you the three core functions that make this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jumping into the IDE, here's the core code path. When an LP deposits, the hook registers their position. Coverage is then updated through _accrue, which only adds coverage while the current tick is inside the LP's range — accrual is lazy and position-specific, so swaps never iterate positions. afterSwap funds the buffer from every trade. On withdrawal, _computeIL compares the HODL value against the actual withdrawal value to get raw impermanent loss. Then _computePayout applies the three caps to determine the final claim. Let me start with _accrue — because that's the core engine for earned coverage.</a:t>
            </a:r>
          </a:p>
          <a:p/>
          <a:p>
            <a:r>
              <a:t>IDE narration — _accrue: Range gate — coverage only accrues inside the LP's range. Year fraction uses the pool's immutable day-count basis — if the LP is in range for 15 actual days, they earn exactly 15/365 of the annual coverage amount. The day-count convention turns coverage from a black-box reward into an auditable financial accrual. _computePayout: Three caps applied in order — IL cap, earned coverage cap, buffer cap. Payout is the minimum of all three. The limiting factor is recorded so the LP knows exactly why they received what they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see it in action. This is a 45-day LP lifecycle running against a fork of the live Sepolia deployment. As the position moves in and out of range, the Reactive Network on Lasna monitors the hook autonomously. When the tick crosses the LP's range boundary, it detects the transition and fires a callback back to Sepolia — no keepers, no bots, no off-chain infrastructure. Every number you see comes from the actual hook contract. Let's run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differentiator. Every LP gets a verifiable, day-by-day coverage statement — built entirely from on-chain events. Every row maps to a real transaction. The accrual periods show whether the position was in range. Because the accrual basis is explicit — the day-count convention, the APR, the entry notional — every row can be independently recomputed from the event data. It's not a black box. The range transitions were detected autonomously by the Reactive Network running on Lasna. And the settlement row shows exactly which cap was the binding constraint. Let me show you.</a:t>
            </a:r>
          </a:p>
          <a:p/>
          <a:p>
            <a:r>
              <a:t>Browser narration — Demo mode: Here's the full 45-day lifecycle. Every row maps to a real on-chain event. Accrual periods show in range, earning coverage. The out-of-range pause detected by the Reactive Network. Resumption. Final settlement — IL cap was the binding constraint, payout 2.23 USDC. Each accrual row shows elapsed time, delta earned using A/365F, and the in-range flag. The day-count convention makes this auditable — not a black box. Live mode: Reading real events from Sepolia right now. Every LP in this pool can pull up their own verifiable coverage statement. Buffer at 10,000 USDC, growing from real swap fees. Self-sustaining by design.</a:t>
            </a:r>
          </a:p>
          <a:p/>
          <a:p>
            <a:r>
              <a:t>Verbal transition: RangeGuard makes IL coverage predictable, auditable, and comparable — because the day-count convention turns coverage from a black-box reward into an auditable financial accrual.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RangeGuard proves that impermanent loss coverage doesn't require a separate protocol, an oracle, or off-chain infrastructure. It's native — built directly into the pool, funded by the same swap activity it protects against, capped to keep the buffer solvent, and settled automatically on withdrawal. The primary beneficiaries are passive and semi-passive LPs — they get downside protection without complex hedging strategies. But the impact extends to protocols and DAOs that need sticky liquidity without relying on token emissions, and to the broader Uniswap ecosystem through deeper pools, tighter spreads, and better execution. The coverage statement is auditable by anyone, recomputable from on-chain events, and expressed in a standard financial day-count convention. Earned over time. Funded by swaps. Settled on-chain. The live dashboard is at range-guard.vercel.app. Full source and 292 passing tests on GitHub.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THE PROBLEM</a:t>
            </a:r>
          </a:p>
        </p:txBody>
      </p:sp>
      <p:sp>
        <p:nvSpPr>
          <p:cNvPr id="4" name="TextBox 3"/>
          <p:cNvSpPr txBox="1"/>
          <p:nvPr/>
        </p:nvSpPr>
        <p:spPr>
          <a:xfrm>
            <a:off x="914400" y="960120"/>
            <a:ext cx="10360152" cy="1417320"/>
          </a:xfrm>
          <a:prstGeom prst="rect">
            <a:avLst/>
          </a:prstGeom>
          <a:noFill/>
        </p:spPr>
        <p:txBody>
          <a:bodyPr wrap="square" anchor="t" lIns="0" rIns="0" tIns="0" bIns="0">
            <a:spAutoFit/>
          </a:bodyPr>
          <a:lstStyle/>
          <a:p>
            <a:pPr algn="ctr"/>
            <a:r>
              <a:rPr sz="4600" b="1" i="0">
                <a:solidFill>
                  <a:srgbClr val="FFFFFF"/>
                </a:solidFill>
                <a:latin typeface="Calibri"/>
              </a:rPr>
              <a:t>LPs Can Lose Value</a:t>
            </a:r>
          </a:p>
          <a:p>
            <a:pPr algn="ctr"/>
            <a:r>
              <a:rPr sz="4600" b="1" i="0">
                <a:solidFill>
                  <a:srgbClr val="FFFFFF"/>
                </a:solidFill>
                <a:latin typeface="Calibri"/>
              </a:rPr>
              <a:t>Compared to Simply Holding</a:t>
            </a:r>
          </a:p>
        </p:txBody>
      </p:sp>
      <p:sp>
        <p:nvSpPr>
          <p:cNvPr id="5" name="TextBox 4"/>
          <p:cNvSpPr txBox="1"/>
          <p:nvPr/>
        </p:nvSpPr>
        <p:spPr>
          <a:xfrm>
            <a:off x="1371600" y="2423160"/>
            <a:ext cx="9445752" cy="822960"/>
          </a:xfrm>
          <a:prstGeom prst="rect">
            <a:avLst/>
          </a:prstGeom>
          <a:noFill/>
        </p:spPr>
        <p:txBody>
          <a:bodyPr wrap="square" anchor="t" lIns="0" rIns="0" tIns="0" bIns="0">
            <a:spAutoFit/>
          </a:bodyPr>
          <a:lstStyle/>
          <a:p>
            <a:pPr algn="ctr"/>
            <a:r>
              <a:rPr sz="1900" b="0" i="0">
                <a:solidFill>
                  <a:srgbClr val="94A3B8"/>
                </a:solidFill>
                <a:latin typeface="Calibri"/>
              </a:rPr>
              <a:t>Impermanent loss is the gap between</a:t>
            </a:r>
          </a:p>
          <a:p>
            <a:pPr algn="ctr"/>
            <a:r>
              <a:rPr sz="1900" b="0" i="0">
                <a:solidFill>
                  <a:srgbClr val="94A3B8"/>
                </a:solidFill>
                <a:latin typeface="Calibri"/>
              </a:rPr>
              <a:t>HODL value and LP withdrawal value</a:t>
            </a:r>
          </a:p>
        </p:txBody>
      </p:sp>
      <p:sp>
        <p:nvSpPr>
          <p:cNvPr id="6" name="Rectangle 5"/>
          <p:cNvSpPr/>
          <p:nvPr/>
        </p:nvSpPr>
        <p:spPr>
          <a:xfrm>
            <a:off x="4265676" y="3456432"/>
            <a:ext cx="3657600" cy="317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3767328"/>
            <a:ext cx="9601200" cy="365760"/>
          </a:xfrm>
          <a:prstGeom prst="rect">
            <a:avLst/>
          </a:prstGeom>
          <a:noFill/>
        </p:spPr>
        <p:txBody>
          <a:bodyPr wrap="square" anchor="t" lIns="0" rIns="0" tIns="0" bIns="0">
            <a:spAutoFit/>
          </a:bodyPr>
          <a:lstStyle/>
          <a:p>
            <a:pPr algn="l"/>
            <a:r>
              <a:rPr sz="1600" b="1" i="0">
                <a:solidFill>
                  <a:srgbClr val="00D395"/>
                </a:solidFill>
                <a:latin typeface="Calibri"/>
              </a:rPr>
              <a:t>Impermanent loss happens when:</a:t>
            </a:r>
          </a:p>
        </p:txBody>
      </p:sp>
      <p:sp>
        <p:nvSpPr>
          <p:cNvPr id="8" name="TextBox 7"/>
          <p:cNvSpPr txBox="1"/>
          <p:nvPr/>
        </p:nvSpPr>
        <p:spPr>
          <a:xfrm>
            <a:off x="1280160" y="4224528"/>
            <a:ext cx="9601200" cy="2194560"/>
          </a:xfrm>
          <a:prstGeom prst="rect">
            <a:avLst/>
          </a:prstGeom>
          <a:noFill/>
        </p:spPr>
        <p:txBody>
          <a:bodyPr wrap="square" anchor="t" lIns="0" rIns="0" tIns="0" bIns="0">
            <a:spAutoFit/>
          </a:bodyPr>
          <a:lstStyle/>
          <a:p>
            <a:pPr algn="l">
              <a:spcAft>
                <a:spcPts val="900"/>
              </a:spcAft>
            </a:pPr>
            <a:r>
              <a:rPr sz="1900" b="0" i="0">
                <a:solidFill>
                  <a:srgbClr val="FFFFFF"/>
                </a:solidFill>
                <a:latin typeface="Calibri"/>
              </a:rPr>
              <a:t>•  An LP deposits two assets — for example ETH + USDC</a:t>
            </a:r>
          </a:p>
          <a:p>
            <a:pPr algn="l">
              <a:spcAft>
                <a:spcPts val="900"/>
              </a:spcAft>
            </a:pPr>
            <a:r>
              <a:rPr sz="1900" b="0" i="0">
                <a:solidFill>
                  <a:srgbClr val="FFFFFF"/>
                </a:solidFill>
                <a:latin typeface="Calibri"/>
              </a:rPr>
              <a:t>•  The price of ETH moves</a:t>
            </a:r>
          </a:p>
          <a:p>
            <a:pPr algn="l">
              <a:spcAft>
                <a:spcPts val="900"/>
              </a:spcAft>
            </a:pPr>
            <a:r>
              <a:rPr sz="1900" b="0" i="0">
                <a:solidFill>
                  <a:srgbClr val="FFFFFF"/>
                </a:solidFill>
                <a:latin typeface="Calibri"/>
              </a:rPr>
              <a:t>•  The AMM automatically rebalances the LP's inventory</a:t>
            </a:r>
          </a:p>
          <a:p>
            <a:pPr algn="l">
              <a:spcAft>
                <a:spcPts val="900"/>
              </a:spcAft>
            </a:pPr>
            <a:r>
              <a:rPr sz="1900" b="0" i="0">
                <a:solidFill>
                  <a:srgbClr val="FFFFFF"/>
                </a:solidFill>
                <a:latin typeface="Calibri"/>
              </a:rPr>
              <a:t>•  At withdrawal, the LP receives a token mix worth less than simply holding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THE PROBLEM</a:t>
            </a:r>
          </a:p>
        </p:txBody>
      </p:sp>
      <p:sp>
        <p:nvSpPr>
          <p:cNvPr id="4" name="Rounded Rectangle 3"/>
          <p:cNvSpPr/>
          <p:nvPr/>
        </p:nvSpPr>
        <p:spPr>
          <a:xfrm>
            <a:off x="2436876" y="868680"/>
            <a:ext cx="7315200"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436876" y="868680"/>
            <a:ext cx="7315200" cy="868680"/>
          </a:xfrm>
          <a:prstGeom prst="rect">
            <a:avLst/>
          </a:prstGeom>
          <a:noFill/>
        </p:spPr>
        <p:txBody>
          <a:bodyPr wrap="square" anchor="ctr" lIns="0" rIns="0" tIns="0" bIns="0">
            <a:spAutoFit/>
          </a:bodyPr>
          <a:lstStyle/>
          <a:p>
            <a:pPr algn="ctr"/>
            <a:r>
              <a:rPr sz="1800" b="1" i="0">
                <a:solidFill>
                  <a:srgbClr val="FFFFFF"/>
                </a:solidFill>
                <a:latin typeface="Calibri"/>
              </a:rPr>
              <a:t>📍 Day 0:  1 ETH = $2,000 USDC</a:t>
            </a:r>
          </a:p>
          <a:p>
            <a:pPr algn="ctr"/>
            <a:r>
              <a:rPr sz="1500" b="0" i="0">
                <a:solidFill>
                  <a:srgbClr val="94A3B8"/>
                </a:solidFill>
                <a:latin typeface="Calibri"/>
              </a:rPr>
              <a:t>Deposit: 1 ETH + 2,000 USDC = $4,000 total</a:t>
            </a:r>
          </a:p>
        </p:txBody>
      </p:sp>
      <p:sp>
        <p:nvSpPr>
          <p:cNvPr id="6" name="Rounded Rectangle 5"/>
          <p:cNvSpPr/>
          <p:nvPr/>
        </p:nvSpPr>
        <p:spPr>
          <a:xfrm>
            <a:off x="777240" y="2011680"/>
            <a:ext cx="3383280" cy="233172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94560"/>
            <a:ext cx="3383280" cy="457200"/>
          </a:xfrm>
          <a:prstGeom prst="rect">
            <a:avLst/>
          </a:prstGeom>
          <a:noFill/>
        </p:spPr>
        <p:txBody>
          <a:bodyPr wrap="square" anchor="t" lIns="0" rIns="0" tIns="0" bIns="0">
            <a:spAutoFit/>
          </a:bodyPr>
          <a:lstStyle/>
          <a:p>
            <a:pPr algn="ctr"/>
            <a:r>
              <a:rPr sz="1800" b="1" i="0">
                <a:solidFill>
                  <a:srgbClr val="FFFFFF"/>
                </a:solidFill>
                <a:latin typeface="Calibri"/>
              </a:rPr>
              <a:t>HODL</a:t>
            </a:r>
          </a:p>
        </p:txBody>
      </p:sp>
      <p:sp>
        <p:nvSpPr>
          <p:cNvPr id="8" name="Rectangle 7"/>
          <p:cNvSpPr/>
          <p:nvPr/>
        </p:nvSpPr>
        <p:spPr>
          <a:xfrm>
            <a:off x="1325880" y="2670048"/>
            <a:ext cx="228600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80360"/>
            <a:ext cx="2834640" cy="822960"/>
          </a:xfrm>
          <a:prstGeom prst="rect">
            <a:avLst/>
          </a:prstGeom>
          <a:noFill/>
        </p:spPr>
        <p:txBody>
          <a:bodyPr wrap="square" anchor="t" lIns="0" rIns="0" tIns="0" bIns="0">
            <a:spAutoFit/>
          </a:bodyPr>
          <a:lstStyle/>
          <a:p>
            <a:pPr algn="ctr">
              <a:spcAft>
                <a:spcPts val="400"/>
              </a:spcAft>
            </a:pPr>
            <a:r>
              <a:rPr sz="1400" b="0" i="0">
                <a:solidFill>
                  <a:srgbClr val="94A3B8"/>
                </a:solidFill>
                <a:latin typeface="Calibri"/>
              </a:rPr>
              <a:t>ETH drops to $1,500</a:t>
            </a:r>
          </a:p>
          <a:p>
            <a:pPr algn="ctr">
              <a:spcAft>
                <a:spcPts val="400"/>
              </a:spcAft>
            </a:pPr>
            <a:r>
              <a:rPr sz="1400" b="0" i="0">
                <a:solidFill>
                  <a:srgbClr val="94A3B8"/>
                </a:solidFill>
                <a:latin typeface="Calibri"/>
              </a:rPr>
              <a:t> </a:t>
            </a:r>
          </a:p>
        </p:txBody>
      </p:sp>
      <p:sp>
        <p:nvSpPr>
          <p:cNvPr id="10" name="TextBox 9"/>
          <p:cNvSpPr txBox="1"/>
          <p:nvPr/>
        </p:nvSpPr>
        <p:spPr>
          <a:xfrm>
            <a:off x="960120" y="3657600"/>
            <a:ext cx="3017520" cy="640080"/>
          </a:xfrm>
          <a:prstGeom prst="rect">
            <a:avLst/>
          </a:prstGeom>
          <a:noFill/>
        </p:spPr>
        <p:txBody>
          <a:bodyPr wrap="square" anchor="t" lIns="0" rIns="0" tIns="0" bIns="0">
            <a:spAutoFit/>
          </a:bodyPr>
          <a:lstStyle/>
          <a:p>
            <a:pPr algn="ctr"/>
            <a:r>
              <a:rPr sz="2100" b="1" i="0">
                <a:solidFill>
                  <a:srgbClr val="FFFFFF"/>
                </a:solidFill>
                <a:latin typeface="Calibri"/>
              </a:rPr>
              <a:t>Value: $3,500</a:t>
            </a:r>
          </a:p>
        </p:txBody>
      </p:sp>
      <p:sp>
        <p:nvSpPr>
          <p:cNvPr id="11" name="Rounded Rectangle 10"/>
          <p:cNvSpPr/>
          <p:nvPr/>
        </p:nvSpPr>
        <p:spPr>
          <a:xfrm>
            <a:off x="4434840" y="2011680"/>
            <a:ext cx="3383280" cy="233172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2194560"/>
            <a:ext cx="3383280" cy="457200"/>
          </a:xfrm>
          <a:prstGeom prst="rect">
            <a:avLst/>
          </a:prstGeom>
          <a:noFill/>
        </p:spPr>
        <p:txBody>
          <a:bodyPr wrap="square" anchor="t" lIns="0" rIns="0" tIns="0" bIns="0">
            <a:spAutoFit/>
          </a:bodyPr>
          <a:lstStyle/>
          <a:p>
            <a:pPr algn="ctr"/>
            <a:r>
              <a:rPr sz="1800" b="1" i="0">
                <a:solidFill>
                  <a:srgbClr val="FFFFFF"/>
                </a:solidFill>
                <a:latin typeface="Calibri"/>
              </a:rPr>
              <a:t>LP Withdrawal</a:t>
            </a:r>
          </a:p>
        </p:txBody>
      </p:sp>
      <p:sp>
        <p:nvSpPr>
          <p:cNvPr id="13" name="Rectangle 12"/>
          <p:cNvSpPr/>
          <p:nvPr/>
        </p:nvSpPr>
        <p:spPr>
          <a:xfrm>
            <a:off x="4983479" y="2670048"/>
            <a:ext cx="228600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9159" y="2880360"/>
            <a:ext cx="2834640" cy="822960"/>
          </a:xfrm>
          <a:prstGeom prst="rect">
            <a:avLst/>
          </a:prstGeom>
          <a:noFill/>
        </p:spPr>
        <p:txBody>
          <a:bodyPr wrap="square" anchor="t" lIns="0" rIns="0" tIns="0" bIns="0">
            <a:spAutoFit/>
          </a:bodyPr>
          <a:lstStyle/>
          <a:p>
            <a:pPr algn="ctr">
              <a:spcAft>
                <a:spcPts val="400"/>
              </a:spcAft>
            </a:pPr>
            <a:r>
              <a:rPr sz="1400" b="0" i="0">
                <a:solidFill>
                  <a:srgbClr val="94A3B8"/>
                </a:solidFill>
                <a:latin typeface="Calibri"/>
              </a:rPr>
              <a:t>Pool rebalanced position</a:t>
            </a:r>
          </a:p>
          <a:p>
            <a:pPr algn="ctr">
              <a:spcAft>
                <a:spcPts val="400"/>
              </a:spcAft>
            </a:pPr>
            <a:r>
              <a:rPr sz="1400" b="0" i="0">
                <a:solidFill>
                  <a:srgbClr val="94A3B8"/>
                </a:solidFill>
                <a:latin typeface="Calibri"/>
              </a:rPr>
              <a:t>Fees included</a:t>
            </a:r>
          </a:p>
        </p:txBody>
      </p:sp>
      <p:sp>
        <p:nvSpPr>
          <p:cNvPr id="15" name="TextBox 14"/>
          <p:cNvSpPr txBox="1"/>
          <p:nvPr/>
        </p:nvSpPr>
        <p:spPr>
          <a:xfrm>
            <a:off x="4617720" y="3657600"/>
            <a:ext cx="3017520" cy="640080"/>
          </a:xfrm>
          <a:prstGeom prst="rect">
            <a:avLst/>
          </a:prstGeom>
          <a:noFill/>
        </p:spPr>
        <p:txBody>
          <a:bodyPr wrap="square" anchor="t" lIns="0" rIns="0" tIns="0" bIns="0">
            <a:spAutoFit/>
          </a:bodyPr>
          <a:lstStyle/>
          <a:p>
            <a:pPr algn="ctr"/>
            <a:r>
              <a:rPr sz="2100" b="1" i="0">
                <a:solidFill>
                  <a:srgbClr val="FFFFFF"/>
                </a:solidFill>
                <a:latin typeface="Calibri"/>
              </a:rPr>
              <a:t>Value: $3,354</a:t>
            </a:r>
          </a:p>
        </p:txBody>
      </p:sp>
      <p:sp>
        <p:nvSpPr>
          <p:cNvPr id="16" name="Rounded Rectangle 15"/>
          <p:cNvSpPr/>
          <p:nvPr/>
        </p:nvSpPr>
        <p:spPr>
          <a:xfrm>
            <a:off x="8092440" y="2011680"/>
            <a:ext cx="3383280" cy="233172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194560"/>
            <a:ext cx="3383280" cy="457200"/>
          </a:xfrm>
          <a:prstGeom prst="rect">
            <a:avLst/>
          </a:prstGeom>
          <a:noFill/>
        </p:spPr>
        <p:txBody>
          <a:bodyPr wrap="square" anchor="t" lIns="0" rIns="0" tIns="0" bIns="0">
            <a:spAutoFit/>
          </a:bodyPr>
          <a:lstStyle/>
          <a:p>
            <a:pPr algn="ctr"/>
            <a:r>
              <a:rPr sz="1800" b="1" i="0">
                <a:solidFill>
                  <a:srgbClr val="F59E0B"/>
                </a:solidFill>
                <a:latin typeface="Calibri"/>
              </a:rPr>
              <a:t>Impermanent Loss</a:t>
            </a:r>
          </a:p>
        </p:txBody>
      </p:sp>
      <p:sp>
        <p:nvSpPr>
          <p:cNvPr id="18" name="Rectangle 17"/>
          <p:cNvSpPr/>
          <p:nvPr/>
        </p:nvSpPr>
        <p:spPr>
          <a:xfrm>
            <a:off x="8641080" y="2670048"/>
            <a:ext cx="228600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2880360"/>
            <a:ext cx="2834640" cy="822960"/>
          </a:xfrm>
          <a:prstGeom prst="rect">
            <a:avLst/>
          </a:prstGeom>
          <a:noFill/>
        </p:spPr>
        <p:txBody>
          <a:bodyPr wrap="square" anchor="t" lIns="0" rIns="0" tIns="0" bIns="0">
            <a:spAutoFit/>
          </a:bodyPr>
          <a:lstStyle/>
          <a:p>
            <a:pPr algn="ctr">
              <a:spcAft>
                <a:spcPts val="400"/>
              </a:spcAft>
            </a:pPr>
            <a:r>
              <a:rPr sz="1400" b="0" i="0">
                <a:solidFill>
                  <a:srgbClr val="94A3B8"/>
                </a:solidFill>
                <a:latin typeface="Calibri"/>
              </a:rPr>
              <a:t> </a:t>
            </a:r>
          </a:p>
          <a:p>
            <a:pPr algn="ctr">
              <a:spcAft>
                <a:spcPts val="400"/>
              </a:spcAft>
            </a:pPr>
            <a:r>
              <a:rPr sz="1400" b="0" i="0">
                <a:solidFill>
                  <a:srgbClr val="94A3B8"/>
                </a:solidFill>
                <a:latin typeface="Calibri"/>
              </a:rPr>
              <a:t> </a:t>
            </a:r>
          </a:p>
        </p:txBody>
      </p:sp>
      <p:sp>
        <p:nvSpPr>
          <p:cNvPr id="20" name="TextBox 19"/>
          <p:cNvSpPr txBox="1"/>
          <p:nvPr/>
        </p:nvSpPr>
        <p:spPr>
          <a:xfrm>
            <a:off x="8275319" y="3657600"/>
            <a:ext cx="3017520" cy="640080"/>
          </a:xfrm>
          <a:prstGeom prst="rect">
            <a:avLst/>
          </a:prstGeom>
          <a:noFill/>
        </p:spPr>
        <p:txBody>
          <a:bodyPr wrap="square" anchor="t" lIns="0" rIns="0" tIns="0" bIns="0">
            <a:spAutoFit/>
          </a:bodyPr>
          <a:lstStyle/>
          <a:p>
            <a:pPr algn="ctr"/>
            <a:r>
              <a:rPr sz="2100" b="1" i="0">
                <a:solidFill>
                  <a:srgbClr val="EF4444"/>
                </a:solidFill>
                <a:latin typeface="Calibri"/>
              </a:rPr>
              <a:t>Gap: -$146</a:t>
            </a:r>
          </a:p>
          <a:p>
            <a:pPr algn="ctr">
              <a:spcBef>
                <a:spcPts val="200"/>
              </a:spcBef>
            </a:pPr>
            <a:r>
              <a:rPr sz="1400" b="0" i="0">
                <a:solidFill>
                  <a:srgbClr val="EF4444"/>
                </a:solidFill>
                <a:latin typeface="Calibri"/>
              </a:rPr>
              <a:t>(-4.2%)</a:t>
            </a:r>
          </a:p>
        </p:txBody>
      </p:sp>
      <p:sp>
        <p:nvSpPr>
          <p:cNvPr id="21" name="Rounded Rectangle 20"/>
          <p:cNvSpPr/>
          <p:nvPr/>
        </p:nvSpPr>
        <p:spPr>
          <a:xfrm>
            <a:off x="777240" y="4663440"/>
            <a:ext cx="5120640" cy="1554480"/>
          </a:xfrm>
          <a:prstGeom prst="roundRect">
            <a:avLst>
              <a:gd name="adj" fmla="val 8000"/>
            </a:avLst>
          </a:prstGeom>
          <a:solidFill>
            <a:srgbClr val="1E2433"/>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892040"/>
            <a:ext cx="4572000" cy="1188720"/>
          </a:xfrm>
          <a:prstGeom prst="rect">
            <a:avLst/>
          </a:prstGeom>
          <a:noFill/>
        </p:spPr>
        <p:txBody>
          <a:bodyPr wrap="square" anchor="t" lIns="0" rIns="0" tIns="0" bIns="0">
            <a:spAutoFit/>
          </a:bodyPr>
          <a:lstStyle/>
          <a:p>
            <a:pPr algn="l">
              <a:spcAft>
                <a:spcPts val="500"/>
              </a:spcAft>
            </a:pPr>
            <a:r>
              <a:rPr sz="1600" b="1" i="0">
                <a:solidFill>
                  <a:srgbClr val="FFFFFF"/>
                </a:solidFill>
                <a:latin typeface="Calibri"/>
              </a:rPr>
              <a:t>⚠  Swap fees earned:   +$12</a:t>
            </a:r>
          </a:p>
          <a:p>
            <a:pPr algn="l">
              <a:spcAft>
                <a:spcPts val="500"/>
              </a:spcAft>
            </a:pPr>
            <a:r>
              <a:rPr sz="1600" b="0" i="0">
                <a:solidFill>
                  <a:srgbClr val="FFFFFF"/>
                </a:solidFill>
                <a:latin typeface="Calibri"/>
              </a:rPr>
              <a:t>Impermanent loss:    -$146</a:t>
            </a:r>
          </a:p>
          <a:p>
            <a:pPr algn="l"/>
            <a:r>
              <a:rPr sz="1600" b="1" i="0">
                <a:solidFill>
                  <a:srgbClr val="EF4444"/>
                </a:solidFill>
                <a:latin typeface="Calibri"/>
              </a:rPr>
              <a:t>Net loss vs HODL:    -$134</a:t>
            </a:r>
          </a:p>
        </p:txBody>
      </p:sp>
      <p:sp>
        <p:nvSpPr>
          <p:cNvPr id="23" name="Rounded Rectangle 22"/>
          <p:cNvSpPr/>
          <p:nvPr/>
        </p:nvSpPr>
        <p:spPr>
          <a:xfrm>
            <a:off x="6172200" y="4663440"/>
            <a:ext cx="5212080" cy="1554480"/>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846320"/>
            <a:ext cx="4663440" cy="1280160"/>
          </a:xfrm>
          <a:prstGeom prst="rect">
            <a:avLst/>
          </a:prstGeom>
          <a:noFill/>
        </p:spPr>
        <p:txBody>
          <a:bodyPr wrap="square" anchor="t" lIns="0" rIns="0" tIns="0" bIns="0">
            <a:spAutoFit/>
          </a:bodyPr>
          <a:lstStyle/>
          <a:p>
            <a:pPr algn="l">
              <a:spcAft>
                <a:spcPts val="400"/>
              </a:spcAft>
            </a:pPr>
            <a:r>
              <a:rPr sz="1600" b="1" i="0">
                <a:solidFill>
                  <a:srgbClr val="00D395"/>
                </a:solidFill>
                <a:latin typeface="Calibri"/>
              </a:rPr>
              <a:t>Concentrated liquidity:</a:t>
            </a:r>
          </a:p>
          <a:p>
            <a:pPr algn="l">
              <a:spcAft>
                <a:spcPts val="300"/>
              </a:spcAft>
            </a:pPr>
            <a:r>
              <a:rPr sz="1500" b="0" i="0">
                <a:solidFill>
                  <a:srgbClr val="FFFFFF"/>
                </a:solidFill>
                <a:latin typeface="Calibri"/>
              </a:rPr>
              <a:t>Tighter ranges = more fees</a:t>
            </a:r>
          </a:p>
          <a:p>
            <a:pPr algn="l">
              <a:spcAft>
                <a:spcPts val="600"/>
              </a:spcAft>
            </a:pPr>
            <a:r>
              <a:rPr sz="1500" b="0" i="0">
                <a:solidFill>
                  <a:srgbClr val="FFFFFF"/>
                </a:solidFill>
                <a:latin typeface="Calibri"/>
              </a:rPr>
              <a:t>AND amplified IL exposure</a:t>
            </a:r>
          </a:p>
          <a:p>
            <a:pPr algn="l"/>
            <a:r>
              <a:rPr sz="1400" b="0" i="1">
                <a:solidFill>
                  <a:srgbClr val="94A3B8"/>
                </a:solidFill>
                <a:latin typeface="Calibri"/>
              </a:rPr>
              <a:t>The tradeoff is unavoidable — until 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THE SOLUTION</a:t>
            </a:r>
          </a:p>
        </p:txBody>
      </p:sp>
      <p:sp>
        <p:nvSpPr>
          <p:cNvPr id="4" name="TextBox 3"/>
          <p:cNvSpPr txBox="1"/>
          <p:nvPr/>
        </p:nvSpPr>
        <p:spPr>
          <a:xfrm>
            <a:off x="914400" y="1417320"/>
            <a:ext cx="10360152" cy="1371600"/>
          </a:xfrm>
          <a:prstGeom prst="rect">
            <a:avLst/>
          </a:prstGeom>
          <a:noFill/>
        </p:spPr>
        <p:txBody>
          <a:bodyPr wrap="square" anchor="t" lIns="0" rIns="0" tIns="0" bIns="0">
            <a:spAutoFit/>
          </a:bodyPr>
          <a:lstStyle/>
          <a:p>
            <a:pPr algn="ctr"/>
            <a:r>
              <a:rPr sz="3600" b="1" i="0">
                <a:solidFill>
                  <a:srgbClr val="FFFFFF"/>
                </a:solidFill>
                <a:latin typeface="Calibri"/>
              </a:rPr>
              <a:t>RangeGuard turns impermanent loss</a:t>
            </a:r>
          </a:p>
          <a:p>
            <a:pPr algn="ctr"/>
            <a:r>
              <a:rPr sz="3600" b="1" i="0">
                <a:solidFill>
                  <a:srgbClr val="FFFFFF"/>
                </a:solidFill>
                <a:latin typeface="Calibri"/>
              </a:rPr>
              <a:t>into an earned, capped, on-chain claim.</a:t>
            </a:r>
          </a:p>
        </p:txBody>
      </p:sp>
      <p:sp>
        <p:nvSpPr>
          <p:cNvPr id="5" name="TextBox 4"/>
          <p:cNvSpPr txBox="1"/>
          <p:nvPr/>
        </p:nvSpPr>
        <p:spPr>
          <a:xfrm>
            <a:off x="914400" y="3063240"/>
            <a:ext cx="10360152" cy="1463040"/>
          </a:xfrm>
          <a:prstGeom prst="rect">
            <a:avLst/>
          </a:prstGeom>
          <a:noFill/>
        </p:spPr>
        <p:txBody>
          <a:bodyPr wrap="square" anchor="t" lIns="0" rIns="0" tIns="0" bIns="0">
            <a:spAutoFit/>
          </a:bodyPr>
          <a:lstStyle/>
          <a:p>
            <a:pPr algn="ctr">
              <a:spcAft>
                <a:spcPts val="400"/>
              </a:spcAft>
            </a:pPr>
            <a:r>
              <a:rPr sz="2200" b="0" i="0">
                <a:solidFill>
                  <a:srgbClr val="94A3B8"/>
                </a:solidFill>
                <a:latin typeface="Calibri"/>
              </a:rPr>
              <a:t>Earned over time.</a:t>
            </a:r>
          </a:p>
          <a:p>
            <a:pPr algn="ctr">
              <a:spcAft>
                <a:spcPts val="400"/>
              </a:spcAft>
            </a:pPr>
            <a:r>
              <a:rPr sz="2200" b="0" i="0">
                <a:solidFill>
                  <a:srgbClr val="94A3B8"/>
                </a:solidFill>
                <a:latin typeface="Calibri"/>
              </a:rPr>
              <a:t>Funded by swap activity.</a:t>
            </a:r>
          </a:p>
          <a:p>
            <a:pPr algn="ctr">
              <a:spcAft>
                <a:spcPts val="1400"/>
              </a:spcAft>
            </a:pPr>
            <a:r>
              <a:rPr sz="2200" b="0" i="0">
                <a:solidFill>
                  <a:srgbClr val="94A3B8"/>
                </a:solidFill>
                <a:latin typeface="Calibri"/>
              </a:rPr>
              <a:t>Settled automatically.</a:t>
            </a:r>
          </a:p>
          <a:p>
            <a:pPr algn="ctr"/>
            <a:r>
              <a:rPr sz="1700" b="0" i="1">
                <a:solidFill>
                  <a:srgbClr val="94A3B8"/>
                </a:solidFill>
                <a:latin typeface="Calibri"/>
              </a:rPr>
              <a:t>Accrual calculated using Actual/365 Fixed —</a:t>
            </a:r>
          </a:p>
          <a:p>
            <a:pPr algn="ctr"/>
            <a:r>
              <a:rPr sz="1700" b="0" i="1">
                <a:solidFill>
                  <a:srgbClr val="94A3B8"/>
                </a:solidFill>
                <a:latin typeface="Calibri"/>
              </a:rPr>
              <a:t>a standard financial day-count convention.</a:t>
            </a:r>
          </a:p>
        </p:txBody>
      </p:sp>
      <p:sp>
        <p:nvSpPr>
          <p:cNvPr id="6" name="TextBox 5"/>
          <p:cNvSpPr txBox="1"/>
          <p:nvPr/>
        </p:nvSpPr>
        <p:spPr>
          <a:xfrm>
            <a:off x="914400" y="5669280"/>
            <a:ext cx="10360152" cy="640080"/>
          </a:xfrm>
          <a:prstGeom prst="rect">
            <a:avLst/>
          </a:prstGeom>
          <a:noFill/>
        </p:spPr>
        <p:txBody>
          <a:bodyPr wrap="square" anchor="ctr" lIns="0" rIns="0" tIns="0" bIns="0">
            <a:spAutoFit/>
          </a:bodyPr>
          <a:lstStyle/>
          <a:p>
            <a:pPr algn="ctr"/>
            <a:r>
              <a:rPr sz="2400" b="1" i="1">
                <a:solidFill>
                  <a:srgbClr val="00D395"/>
                </a:solidFill>
                <a:latin typeface="Calibri"/>
              </a:rPr>
              <a:t>“Protect your liquidity. Guard your range.”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THE SOLUTION</a:t>
            </a:r>
          </a:p>
        </p:txBody>
      </p:sp>
      <p:sp>
        <p:nvSpPr>
          <p:cNvPr id="4" name="TextBox 3"/>
          <p:cNvSpPr txBox="1"/>
          <p:nvPr/>
        </p:nvSpPr>
        <p:spPr>
          <a:xfrm>
            <a:off x="914400" y="777240"/>
            <a:ext cx="10360152" cy="640080"/>
          </a:xfrm>
          <a:prstGeom prst="rect">
            <a:avLst/>
          </a:prstGeom>
          <a:noFill/>
        </p:spPr>
        <p:txBody>
          <a:bodyPr wrap="square" anchor="t" lIns="0" rIns="0" tIns="0" bIns="0">
            <a:spAutoFit/>
          </a:bodyPr>
          <a:lstStyle/>
          <a:p>
            <a:pPr algn="ctr"/>
            <a:r>
              <a:rPr sz="3200" b="1" i="0">
                <a:solidFill>
                  <a:srgbClr val="FFFFFF"/>
                </a:solidFill>
                <a:latin typeface="Calibri"/>
              </a:rPr>
              <a:t>Self-Funding by Design</a:t>
            </a:r>
          </a:p>
        </p:txBody>
      </p:sp>
      <p:sp>
        <p:nvSpPr>
          <p:cNvPr id="5" name="TextBox 4"/>
          <p:cNvSpPr txBox="1"/>
          <p:nvPr/>
        </p:nvSpPr>
        <p:spPr>
          <a:xfrm>
            <a:off x="7378020" y="2183130"/>
            <a:ext cx="640080" cy="457200"/>
          </a:xfrm>
          <a:prstGeom prst="rect">
            <a:avLst/>
          </a:prstGeom>
          <a:noFill/>
        </p:spPr>
        <p:txBody>
          <a:bodyPr wrap="square" anchor="ctr" lIns="0" rIns="0" tIns="0" bIns="0">
            <a:spAutoFit/>
          </a:bodyPr>
          <a:lstStyle/>
          <a:p>
            <a:pPr algn="ctr"/>
            <a:r>
              <a:rPr sz="2600" b="1" i="0">
                <a:solidFill>
                  <a:srgbClr val="00D395"/>
                </a:solidFill>
                <a:latin typeface="Calibri"/>
              </a:rPr>
              <a:t>→</a:t>
            </a:r>
          </a:p>
        </p:txBody>
      </p:sp>
      <p:sp>
        <p:nvSpPr>
          <p:cNvPr id="6" name="TextBox 5"/>
          <p:cNvSpPr txBox="1"/>
          <p:nvPr/>
        </p:nvSpPr>
        <p:spPr>
          <a:xfrm>
            <a:off x="8981605" y="3383280"/>
            <a:ext cx="640080" cy="457200"/>
          </a:xfrm>
          <a:prstGeom prst="rect">
            <a:avLst/>
          </a:prstGeom>
          <a:noFill/>
        </p:spPr>
        <p:txBody>
          <a:bodyPr wrap="square" anchor="ctr" lIns="0" rIns="0" tIns="0" bIns="0">
            <a:spAutoFit/>
          </a:bodyPr>
          <a:lstStyle/>
          <a:p>
            <a:pPr algn="ctr"/>
            <a:r>
              <a:rPr sz="2600" b="1" i="0">
                <a:solidFill>
                  <a:srgbClr val="00D395"/>
                </a:solidFill>
                <a:latin typeface="Calibri"/>
              </a:rPr>
              <a:t>→</a:t>
            </a:r>
          </a:p>
        </p:txBody>
      </p:sp>
      <p:sp>
        <p:nvSpPr>
          <p:cNvPr id="7" name="TextBox 6"/>
          <p:cNvSpPr txBox="1"/>
          <p:nvPr/>
        </p:nvSpPr>
        <p:spPr>
          <a:xfrm>
            <a:off x="7378020" y="4583430"/>
            <a:ext cx="640080" cy="457200"/>
          </a:xfrm>
          <a:prstGeom prst="rect">
            <a:avLst/>
          </a:prstGeom>
          <a:noFill/>
        </p:spPr>
        <p:txBody>
          <a:bodyPr wrap="square" anchor="ctr" lIns="0" rIns="0" tIns="0" bIns="0">
            <a:spAutoFit/>
          </a:bodyPr>
          <a:lstStyle/>
          <a:p>
            <a:pPr algn="ctr"/>
            <a:r>
              <a:rPr sz="2600" b="1" i="0">
                <a:solidFill>
                  <a:srgbClr val="00D395"/>
                </a:solidFill>
                <a:latin typeface="Calibri"/>
              </a:rPr>
              <a:t>→</a:t>
            </a:r>
          </a:p>
        </p:txBody>
      </p:sp>
      <p:sp>
        <p:nvSpPr>
          <p:cNvPr id="8" name="TextBox 7"/>
          <p:cNvSpPr txBox="1"/>
          <p:nvPr/>
        </p:nvSpPr>
        <p:spPr>
          <a:xfrm>
            <a:off x="4170851" y="4583430"/>
            <a:ext cx="640080" cy="457200"/>
          </a:xfrm>
          <a:prstGeom prst="rect">
            <a:avLst/>
          </a:prstGeom>
          <a:noFill/>
        </p:spPr>
        <p:txBody>
          <a:bodyPr wrap="square" anchor="ctr" lIns="0" rIns="0" tIns="0" bIns="0">
            <a:spAutoFit/>
          </a:bodyPr>
          <a:lstStyle/>
          <a:p>
            <a:pPr algn="ctr"/>
            <a:r>
              <a:rPr sz="2600" b="1" i="0">
                <a:solidFill>
                  <a:srgbClr val="00D395"/>
                </a:solidFill>
                <a:latin typeface="Calibri"/>
              </a:rPr>
              <a:t>→</a:t>
            </a:r>
          </a:p>
        </p:txBody>
      </p:sp>
      <p:sp>
        <p:nvSpPr>
          <p:cNvPr id="9" name="TextBox 8"/>
          <p:cNvSpPr txBox="1"/>
          <p:nvPr/>
        </p:nvSpPr>
        <p:spPr>
          <a:xfrm>
            <a:off x="2567266" y="3383280"/>
            <a:ext cx="640080" cy="457200"/>
          </a:xfrm>
          <a:prstGeom prst="rect">
            <a:avLst/>
          </a:prstGeom>
          <a:noFill/>
        </p:spPr>
        <p:txBody>
          <a:bodyPr wrap="square" anchor="ctr" lIns="0" rIns="0" tIns="0" bIns="0">
            <a:spAutoFit/>
          </a:bodyPr>
          <a:lstStyle/>
          <a:p>
            <a:pPr algn="ctr"/>
            <a:r>
              <a:rPr sz="2600" b="1" i="0">
                <a:solidFill>
                  <a:srgbClr val="00D395"/>
                </a:solidFill>
                <a:latin typeface="Calibri"/>
              </a:rPr>
              <a:t>→</a:t>
            </a:r>
          </a:p>
        </p:txBody>
      </p:sp>
      <p:sp>
        <p:nvSpPr>
          <p:cNvPr id="10" name="TextBox 9"/>
          <p:cNvSpPr txBox="1"/>
          <p:nvPr/>
        </p:nvSpPr>
        <p:spPr>
          <a:xfrm>
            <a:off x="4170851" y="2183130"/>
            <a:ext cx="640080" cy="457200"/>
          </a:xfrm>
          <a:prstGeom prst="rect">
            <a:avLst/>
          </a:prstGeom>
          <a:noFill/>
        </p:spPr>
        <p:txBody>
          <a:bodyPr wrap="square" anchor="ctr" lIns="0" rIns="0" tIns="0" bIns="0">
            <a:spAutoFit/>
          </a:bodyPr>
          <a:lstStyle/>
          <a:p>
            <a:pPr algn="ctr"/>
            <a:r>
              <a:rPr sz="2600" b="1" i="0">
                <a:solidFill>
                  <a:srgbClr val="00D395"/>
                </a:solidFill>
                <a:latin typeface="Calibri"/>
              </a:rPr>
              <a:t>→</a:t>
            </a:r>
          </a:p>
        </p:txBody>
      </p:sp>
      <p:sp>
        <p:nvSpPr>
          <p:cNvPr id="11" name="Rounded Rectangle 10"/>
          <p:cNvSpPr/>
          <p:nvPr/>
        </p:nvSpPr>
        <p:spPr>
          <a:xfrm>
            <a:off x="5020056" y="1577340"/>
            <a:ext cx="2148840"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0056" y="1577340"/>
            <a:ext cx="2148840" cy="868680"/>
          </a:xfrm>
          <a:prstGeom prst="rect">
            <a:avLst/>
          </a:prstGeom>
          <a:noFill/>
        </p:spPr>
        <p:txBody>
          <a:bodyPr wrap="square" anchor="ctr" lIns="0" rIns="0" tIns="0" bIns="0">
            <a:spAutoFit/>
          </a:bodyPr>
          <a:lstStyle/>
          <a:p>
            <a:pPr algn="ctr"/>
            <a:r>
              <a:rPr sz="1400" b="0" i="0">
                <a:solidFill>
                  <a:srgbClr val="FFFFFF"/>
                </a:solidFill>
                <a:latin typeface="Calibri"/>
              </a:rPr>
              <a:t>LPs provide</a:t>
            </a:r>
          </a:p>
          <a:p>
            <a:pPr algn="ctr"/>
            <a:r>
              <a:rPr sz="1400" b="0" i="0">
                <a:solidFill>
                  <a:srgbClr val="FFFFFF"/>
                </a:solidFill>
                <a:latin typeface="Calibri"/>
              </a:rPr>
              <a:t>liquidity</a:t>
            </a:r>
          </a:p>
        </p:txBody>
      </p:sp>
      <p:sp>
        <p:nvSpPr>
          <p:cNvPr id="13" name="Rounded Rectangle 12"/>
          <p:cNvSpPr/>
          <p:nvPr/>
        </p:nvSpPr>
        <p:spPr>
          <a:xfrm>
            <a:off x="8227225" y="2377440"/>
            <a:ext cx="2148840"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7225" y="2377440"/>
            <a:ext cx="2148840" cy="868680"/>
          </a:xfrm>
          <a:prstGeom prst="rect">
            <a:avLst/>
          </a:prstGeom>
          <a:noFill/>
        </p:spPr>
        <p:txBody>
          <a:bodyPr wrap="square" anchor="ctr" lIns="0" rIns="0" tIns="0" bIns="0">
            <a:spAutoFit/>
          </a:bodyPr>
          <a:lstStyle/>
          <a:p>
            <a:pPr algn="ctr"/>
            <a:r>
              <a:rPr sz="1400" b="0" i="0">
                <a:solidFill>
                  <a:srgbClr val="FFFFFF"/>
                </a:solidFill>
                <a:latin typeface="Calibri"/>
              </a:rPr>
              <a:t>Traders use</a:t>
            </a:r>
          </a:p>
          <a:p>
            <a:pPr algn="ctr"/>
            <a:r>
              <a:rPr sz="1400" b="0" i="0">
                <a:solidFill>
                  <a:srgbClr val="FFFFFF"/>
                </a:solidFill>
                <a:latin typeface="Calibri"/>
              </a:rPr>
              <a:t>the pool</a:t>
            </a:r>
          </a:p>
        </p:txBody>
      </p:sp>
      <p:sp>
        <p:nvSpPr>
          <p:cNvPr id="15" name="Rounded Rectangle 14"/>
          <p:cNvSpPr/>
          <p:nvPr/>
        </p:nvSpPr>
        <p:spPr>
          <a:xfrm>
            <a:off x="8227225" y="3977640"/>
            <a:ext cx="2148840"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7225" y="3977640"/>
            <a:ext cx="2148840" cy="868680"/>
          </a:xfrm>
          <a:prstGeom prst="rect">
            <a:avLst/>
          </a:prstGeom>
          <a:noFill/>
        </p:spPr>
        <p:txBody>
          <a:bodyPr wrap="square" anchor="ctr" lIns="0" rIns="0" tIns="0" bIns="0">
            <a:spAutoFit/>
          </a:bodyPr>
          <a:lstStyle/>
          <a:p>
            <a:pPr algn="ctr"/>
            <a:r>
              <a:rPr sz="1400" b="0" i="0">
                <a:solidFill>
                  <a:srgbClr val="FFFFFF"/>
                </a:solidFill>
                <a:latin typeface="Calibri"/>
              </a:rPr>
              <a:t>Swaps generate</a:t>
            </a:r>
          </a:p>
          <a:p>
            <a:pPr algn="ctr"/>
            <a:r>
              <a:rPr sz="1400" b="0" i="0">
                <a:solidFill>
                  <a:srgbClr val="FFFFFF"/>
                </a:solidFill>
                <a:latin typeface="Calibri"/>
              </a:rPr>
              <a:t>fees</a:t>
            </a:r>
          </a:p>
        </p:txBody>
      </p:sp>
      <p:sp>
        <p:nvSpPr>
          <p:cNvPr id="17" name="Rounded Rectangle 16"/>
          <p:cNvSpPr/>
          <p:nvPr/>
        </p:nvSpPr>
        <p:spPr>
          <a:xfrm>
            <a:off x="5020056" y="4777740"/>
            <a:ext cx="2148840" cy="868680"/>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0056" y="4777740"/>
            <a:ext cx="2148840" cy="868680"/>
          </a:xfrm>
          <a:prstGeom prst="rect">
            <a:avLst/>
          </a:prstGeom>
          <a:noFill/>
        </p:spPr>
        <p:txBody>
          <a:bodyPr wrap="square" anchor="ctr" lIns="0" rIns="0" tIns="0" bIns="0">
            <a:spAutoFit/>
          </a:bodyPr>
          <a:lstStyle/>
          <a:p>
            <a:pPr algn="ctr"/>
            <a:r>
              <a:rPr sz="1400" b="1" i="0">
                <a:solidFill>
                  <a:srgbClr val="FFFFFF"/>
                </a:solidFill>
                <a:latin typeface="Calibri"/>
              </a:rPr>
              <a:t>A small portion</a:t>
            </a:r>
          </a:p>
          <a:p>
            <a:pPr algn="ctr"/>
            <a:r>
              <a:rPr sz="1400" b="1" i="0">
                <a:solidFill>
                  <a:srgbClr val="FFFFFF"/>
                </a:solidFill>
                <a:latin typeface="Calibri"/>
              </a:rPr>
              <a:t>funds the buffer</a:t>
            </a:r>
          </a:p>
        </p:txBody>
      </p:sp>
      <p:sp>
        <p:nvSpPr>
          <p:cNvPr id="19" name="Rounded Rectangle 18"/>
          <p:cNvSpPr/>
          <p:nvPr/>
        </p:nvSpPr>
        <p:spPr>
          <a:xfrm>
            <a:off x="1812886" y="3977640"/>
            <a:ext cx="2148840" cy="868680"/>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12886" y="3977640"/>
            <a:ext cx="2148840" cy="868680"/>
          </a:xfrm>
          <a:prstGeom prst="rect">
            <a:avLst/>
          </a:prstGeom>
          <a:noFill/>
        </p:spPr>
        <p:txBody>
          <a:bodyPr wrap="square" anchor="ctr" lIns="0" rIns="0" tIns="0" bIns="0">
            <a:spAutoFit/>
          </a:bodyPr>
          <a:lstStyle/>
          <a:p>
            <a:pPr algn="ctr"/>
            <a:r>
              <a:rPr sz="1400" b="1" i="0">
                <a:solidFill>
                  <a:srgbClr val="FFFFFF"/>
                </a:solidFill>
                <a:latin typeface="Calibri"/>
              </a:rPr>
              <a:t>Buffer pays</a:t>
            </a:r>
          </a:p>
          <a:p>
            <a:pPr algn="ctr"/>
            <a:r>
              <a:rPr sz="1400" b="1" i="0">
                <a:solidFill>
                  <a:srgbClr val="FFFFFF"/>
                </a:solidFill>
                <a:latin typeface="Calibri"/>
              </a:rPr>
              <a:t>capped IL claims</a:t>
            </a:r>
          </a:p>
        </p:txBody>
      </p:sp>
      <p:sp>
        <p:nvSpPr>
          <p:cNvPr id="21" name="Rounded Rectangle 20"/>
          <p:cNvSpPr/>
          <p:nvPr/>
        </p:nvSpPr>
        <p:spPr>
          <a:xfrm>
            <a:off x="1812886" y="2377440"/>
            <a:ext cx="2148840"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2886" y="2377440"/>
            <a:ext cx="2148840" cy="868680"/>
          </a:xfrm>
          <a:prstGeom prst="rect">
            <a:avLst/>
          </a:prstGeom>
          <a:noFill/>
        </p:spPr>
        <p:txBody>
          <a:bodyPr wrap="square" anchor="ctr" lIns="0" rIns="0" tIns="0" bIns="0">
            <a:spAutoFit/>
          </a:bodyPr>
          <a:lstStyle/>
          <a:p>
            <a:pPr algn="ctr"/>
            <a:r>
              <a:rPr sz="1400" b="0" i="0">
                <a:solidFill>
                  <a:srgbClr val="FFFFFF"/>
                </a:solidFill>
                <a:latin typeface="Calibri"/>
              </a:rPr>
              <a:t>LPs are</a:t>
            </a:r>
          </a:p>
          <a:p>
            <a:pPr algn="ctr"/>
            <a:r>
              <a:rPr sz="1400" b="0" i="0">
                <a:solidFill>
                  <a:srgbClr val="FFFFFF"/>
                </a:solidFill>
                <a:latin typeface="Calibri"/>
              </a:rPr>
              <a:t>protected</a:t>
            </a:r>
          </a:p>
        </p:txBody>
      </p:sp>
      <p:sp>
        <p:nvSpPr>
          <p:cNvPr id="23" name="TextBox 22"/>
          <p:cNvSpPr txBox="1"/>
          <p:nvPr/>
        </p:nvSpPr>
        <p:spPr>
          <a:xfrm>
            <a:off x="914400" y="6080760"/>
            <a:ext cx="10360152" cy="502920"/>
          </a:xfrm>
          <a:prstGeom prst="rect">
            <a:avLst/>
          </a:prstGeom>
          <a:noFill/>
        </p:spPr>
        <p:txBody>
          <a:bodyPr wrap="square" anchor="ctr" lIns="0" rIns="0" tIns="0" bIns="0">
            <a:spAutoFit/>
          </a:bodyPr>
          <a:lstStyle/>
          <a:p>
            <a:pPr algn="ctr"/>
            <a:r>
              <a:rPr sz="1900" b="1" i="0">
                <a:solidFill>
                  <a:srgbClr val="00D395"/>
                </a:solidFill>
                <a:latin typeface="Calibri"/>
              </a:rPr>
              <a:t>Swap activity funds the buffer that protects LPs.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THE SOLUTION</a:t>
            </a:r>
          </a:p>
        </p:txBody>
      </p:sp>
      <p:sp>
        <p:nvSpPr>
          <p:cNvPr id="4" name="TextBox 3"/>
          <p:cNvSpPr txBox="1"/>
          <p:nvPr/>
        </p:nvSpPr>
        <p:spPr>
          <a:xfrm>
            <a:off x="914400" y="731520"/>
            <a:ext cx="10360152" cy="640080"/>
          </a:xfrm>
          <a:prstGeom prst="rect">
            <a:avLst/>
          </a:prstGeom>
          <a:noFill/>
        </p:spPr>
        <p:txBody>
          <a:bodyPr wrap="square" anchor="t" lIns="0" rIns="0" tIns="0" bIns="0">
            <a:spAutoFit/>
          </a:bodyPr>
          <a:lstStyle/>
          <a:p>
            <a:pPr algn="ctr"/>
            <a:r>
              <a:rPr sz="3000" b="1" i="0">
                <a:solidFill>
                  <a:srgbClr val="FFFFFF"/>
                </a:solidFill>
                <a:latin typeface="Calibri"/>
              </a:rPr>
              <a:t>How RangeGuard Works: Five Pillars</a:t>
            </a:r>
          </a:p>
        </p:txBody>
      </p:sp>
      <p:sp>
        <p:nvSpPr>
          <p:cNvPr id="5" name="TextBox 4"/>
          <p:cNvSpPr txBox="1"/>
          <p:nvPr/>
        </p:nvSpPr>
        <p:spPr>
          <a:xfrm>
            <a:off x="960120" y="1600200"/>
            <a:ext cx="640080" cy="713232"/>
          </a:xfrm>
          <a:prstGeom prst="rect">
            <a:avLst/>
          </a:prstGeom>
          <a:noFill/>
        </p:spPr>
        <p:txBody>
          <a:bodyPr wrap="square" anchor="t" lIns="0" rIns="0" tIns="0" bIns="0">
            <a:spAutoFit/>
          </a:bodyPr>
          <a:lstStyle/>
          <a:p>
            <a:pPr algn="l"/>
            <a:r>
              <a:rPr sz="2600" b="1" i="0">
                <a:solidFill>
                  <a:srgbClr val="00D395"/>
                </a:solidFill>
                <a:latin typeface="Calibri"/>
              </a:rPr>
              <a:t>1</a:t>
            </a:r>
          </a:p>
        </p:txBody>
      </p:sp>
      <p:sp>
        <p:nvSpPr>
          <p:cNvPr id="6" name="TextBox 5"/>
          <p:cNvSpPr txBox="1"/>
          <p:nvPr/>
        </p:nvSpPr>
        <p:spPr>
          <a:xfrm>
            <a:off x="1600200" y="1600200"/>
            <a:ext cx="9692640" cy="713232"/>
          </a:xfrm>
          <a:prstGeom prst="rect">
            <a:avLst/>
          </a:prstGeom>
          <a:noFill/>
        </p:spPr>
        <p:txBody>
          <a:bodyPr wrap="square" anchor="t" lIns="0" rIns="0" tIns="0" bIns="0">
            <a:spAutoFit/>
          </a:bodyPr>
          <a:lstStyle/>
          <a:p>
            <a:pPr algn="l">
              <a:spcAft>
                <a:spcPts val="300"/>
              </a:spcAft>
            </a:pPr>
            <a:r>
              <a:rPr sz="1900" b="1" i="0">
                <a:solidFill>
                  <a:srgbClr val="FFFFFF"/>
                </a:solidFill>
                <a:latin typeface="Calibri"/>
              </a:rPr>
              <a:t>Accrual Gating</a:t>
            </a:r>
          </a:p>
          <a:p>
            <a:pPr algn="l">
              <a:spcAft>
                <a:spcPts val="100"/>
              </a:spcAft>
            </a:pPr>
            <a:r>
              <a:rPr sz="1500" b="0" i="0">
                <a:solidFill>
                  <a:srgbClr val="94A3B8"/>
                </a:solidFill>
                <a:latin typeface="Calibri"/>
              </a:rPr>
              <a:t>Coverage accrues only while the position is in range</a:t>
            </a:r>
          </a:p>
        </p:txBody>
      </p:sp>
      <p:sp>
        <p:nvSpPr>
          <p:cNvPr id="7" name="TextBox 6"/>
          <p:cNvSpPr txBox="1"/>
          <p:nvPr/>
        </p:nvSpPr>
        <p:spPr>
          <a:xfrm>
            <a:off x="960120" y="2459736"/>
            <a:ext cx="640080" cy="713232"/>
          </a:xfrm>
          <a:prstGeom prst="rect">
            <a:avLst/>
          </a:prstGeom>
          <a:noFill/>
        </p:spPr>
        <p:txBody>
          <a:bodyPr wrap="square" anchor="t" lIns="0" rIns="0" tIns="0" bIns="0">
            <a:spAutoFit/>
          </a:bodyPr>
          <a:lstStyle/>
          <a:p>
            <a:pPr algn="l"/>
            <a:r>
              <a:rPr sz="2600" b="1" i="0">
                <a:solidFill>
                  <a:srgbClr val="00D395"/>
                </a:solidFill>
                <a:latin typeface="Calibri"/>
              </a:rPr>
              <a:t>2</a:t>
            </a:r>
          </a:p>
        </p:txBody>
      </p:sp>
      <p:sp>
        <p:nvSpPr>
          <p:cNvPr id="8" name="TextBox 7"/>
          <p:cNvSpPr txBox="1"/>
          <p:nvPr/>
        </p:nvSpPr>
        <p:spPr>
          <a:xfrm>
            <a:off x="1600200" y="2459736"/>
            <a:ext cx="9692640" cy="713232"/>
          </a:xfrm>
          <a:prstGeom prst="rect">
            <a:avLst/>
          </a:prstGeom>
          <a:noFill/>
        </p:spPr>
        <p:txBody>
          <a:bodyPr wrap="square" anchor="t" lIns="0" rIns="0" tIns="0" bIns="0">
            <a:spAutoFit/>
          </a:bodyPr>
          <a:lstStyle/>
          <a:p>
            <a:pPr algn="l">
              <a:spcAft>
                <a:spcPts val="300"/>
              </a:spcAft>
            </a:pPr>
            <a:r>
              <a:rPr sz="1900" b="1" i="0">
                <a:solidFill>
                  <a:srgbClr val="FFFFFF"/>
                </a:solidFill>
                <a:latin typeface="Calibri"/>
              </a:rPr>
              <a:t>Buffer Funding</a:t>
            </a:r>
          </a:p>
          <a:p>
            <a:pPr algn="l">
              <a:spcAft>
                <a:spcPts val="100"/>
              </a:spcAft>
            </a:pPr>
            <a:r>
              <a:rPr sz="1500" b="0" i="0">
                <a:solidFill>
                  <a:srgbClr val="94A3B8"/>
                </a:solidFill>
                <a:latin typeface="Calibri"/>
              </a:rPr>
              <a:t>A portion of every swap fee funds the coverage buffer</a:t>
            </a:r>
          </a:p>
        </p:txBody>
      </p:sp>
      <p:sp>
        <p:nvSpPr>
          <p:cNvPr id="9" name="TextBox 8"/>
          <p:cNvSpPr txBox="1"/>
          <p:nvPr/>
        </p:nvSpPr>
        <p:spPr>
          <a:xfrm>
            <a:off x="960120" y="3319272"/>
            <a:ext cx="640080" cy="950976"/>
          </a:xfrm>
          <a:prstGeom prst="rect">
            <a:avLst/>
          </a:prstGeom>
          <a:noFill/>
        </p:spPr>
        <p:txBody>
          <a:bodyPr wrap="square" anchor="t" lIns="0" rIns="0" tIns="0" bIns="0">
            <a:spAutoFit/>
          </a:bodyPr>
          <a:lstStyle/>
          <a:p>
            <a:pPr algn="l"/>
            <a:r>
              <a:rPr sz="2600" b="1" i="0">
                <a:solidFill>
                  <a:srgbClr val="00D395"/>
                </a:solidFill>
                <a:latin typeface="Calibri"/>
              </a:rPr>
              <a:t>3</a:t>
            </a:r>
          </a:p>
        </p:txBody>
      </p:sp>
      <p:sp>
        <p:nvSpPr>
          <p:cNvPr id="10" name="TextBox 9"/>
          <p:cNvSpPr txBox="1"/>
          <p:nvPr/>
        </p:nvSpPr>
        <p:spPr>
          <a:xfrm>
            <a:off x="1600200" y="3319272"/>
            <a:ext cx="9692640" cy="950976"/>
          </a:xfrm>
          <a:prstGeom prst="rect">
            <a:avLst/>
          </a:prstGeom>
          <a:noFill/>
        </p:spPr>
        <p:txBody>
          <a:bodyPr wrap="square" anchor="t" lIns="0" rIns="0" tIns="0" bIns="0">
            <a:spAutoFit/>
          </a:bodyPr>
          <a:lstStyle/>
          <a:p>
            <a:pPr algn="l">
              <a:spcAft>
                <a:spcPts val="300"/>
              </a:spcAft>
            </a:pPr>
            <a:r>
              <a:rPr sz="1900" b="1" i="0">
                <a:solidFill>
                  <a:srgbClr val="FFFFFF"/>
                </a:solidFill>
                <a:latin typeface="Calibri"/>
              </a:rPr>
              <a:t>Claim Settlement</a:t>
            </a:r>
          </a:p>
          <a:p>
            <a:pPr algn="l">
              <a:spcAft>
                <a:spcPts val="100"/>
              </a:spcAft>
            </a:pPr>
            <a:r>
              <a:rPr sz="1500" b="0" i="0">
                <a:solidFill>
                  <a:srgbClr val="94A3B8"/>
                </a:solidFill>
                <a:latin typeface="Calibri"/>
              </a:rPr>
              <a:t>IL computed and paid automatically on withdrawal</a:t>
            </a:r>
          </a:p>
          <a:p>
            <a:pPr algn="l">
              <a:spcAft>
                <a:spcPts val="100"/>
              </a:spcAft>
            </a:pPr>
            <a:r>
              <a:rPr sz="1500" b="0" i="0">
                <a:solidFill>
                  <a:srgbClr val="94A3B8"/>
                </a:solidFill>
                <a:latin typeface="Calibri"/>
              </a:rPr>
              <a:t>Payout = min(covered IL, earned coverage, buffer cap)</a:t>
            </a:r>
          </a:p>
        </p:txBody>
      </p:sp>
      <p:sp>
        <p:nvSpPr>
          <p:cNvPr id="11" name="Rounded Rectangle 10"/>
          <p:cNvSpPr/>
          <p:nvPr/>
        </p:nvSpPr>
        <p:spPr>
          <a:xfrm>
            <a:off x="731520" y="4343400"/>
            <a:ext cx="10725912" cy="1060704"/>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416552"/>
            <a:ext cx="640080" cy="950976"/>
          </a:xfrm>
          <a:prstGeom prst="rect">
            <a:avLst/>
          </a:prstGeom>
          <a:noFill/>
        </p:spPr>
        <p:txBody>
          <a:bodyPr wrap="square" anchor="t" lIns="0" rIns="0" tIns="0" bIns="0">
            <a:spAutoFit/>
          </a:bodyPr>
          <a:lstStyle/>
          <a:p>
            <a:pPr algn="l"/>
            <a:r>
              <a:rPr sz="2600" b="1" i="0">
                <a:solidFill>
                  <a:srgbClr val="00D395"/>
                </a:solidFill>
                <a:latin typeface="Calibri"/>
              </a:rPr>
              <a:t>4</a:t>
            </a:r>
          </a:p>
        </p:txBody>
      </p:sp>
      <p:sp>
        <p:nvSpPr>
          <p:cNvPr id="13" name="TextBox 12"/>
          <p:cNvSpPr txBox="1"/>
          <p:nvPr/>
        </p:nvSpPr>
        <p:spPr>
          <a:xfrm>
            <a:off x="1600200" y="4416552"/>
            <a:ext cx="9692640" cy="950976"/>
          </a:xfrm>
          <a:prstGeom prst="rect">
            <a:avLst/>
          </a:prstGeom>
          <a:noFill/>
        </p:spPr>
        <p:txBody>
          <a:bodyPr wrap="square" anchor="t" lIns="0" rIns="0" tIns="0" bIns="0">
            <a:spAutoFit/>
          </a:bodyPr>
          <a:lstStyle/>
          <a:p>
            <a:pPr algn="l">
              <a:spcAft>
                <a:spcPts val="300"/>
              </a:spcAft>
            </a:pPr>
            <a:r>
              <a:rPr sz="1900" b="1" i="0">
                <a:solidFill>
                  <a:srgbClr val="FFFFFF"/>
                </a:solidFill>
                <a:latin typeface="Calibri"/>
              </a:rPr>
              <a:t>LP Transparency  ★</a:t>
            </a:r>
          </a:p>
          <a:p>
            <a:pPr algn="l">
              <a:spcAft>
                <a:spcPts val="100"/>
              </a:spcAft>
            </a:pPr>
            <a:r>
              <a:rPr sz="1500" b="0" i="0">
                <a:solidFill>
                  <a:srgbClr val="94A3B8"/>
                </a:solidFill>
                <a:latin typeface="Calibri"/>
              </a:rPr>
              <a:t>A verifiable, day-by-day coverage report —</a:t>
            </a:r>
          </a:p>
          <a:p>
            <a:pPr algn="l">
              <a:spcAft>
                <a:spcPts val="100"/>
              </a:spcAft>
            </a:pPr>
            <a:r>
              <a:rPr sz="1500" b="0" i="0">
                <a:solidFill>
                  <a:srgbClr val="94A3B8"/>
                </a:solidFill>
                <a:latin typeface="Calibri"/>
              </a:rPr>
              <a:t>built entirely from on-chain events</a:t>
            </a:r>
          </a:p>
        </p:txBody>
      </p:sp>
      <p:sp>
        <p:nvSpPr>
          <p:cNvPr id="14" name="TextBox 13"/>
          <p:cNvSpPr txBox="1"/>
          <p:nvPr/>
        </p:nvSpPr>
        <p:spPr>
          <a:xfrm>
            <a:off x="960120" y="5513832"/>
            <a:ext cx="640080" cy="713232"/>
          </a:xfrm>
          <a:prstGeom prst="rect">
            <a:avLst/>
          </a:prstGeom>
          <a:noFill/>
        </p:spPr>
        <p:txBody>
          <a:bodyPr wrap="square" anchor="t" lIns="0" rIns="0" tIns="0" bIns="0">
            <a:spAutoFit/>
          </a:bodyPr>
          <a:lstStyle/>
          <a:p>
            <a:pPr algn="l"/>
            <a:r>
              <a:rPr sz="2600" b="1" i="0">
                <a:solidFill>
                  <a:srgbClr val="00D395"/>
                </a:solidFill>
                <a:latin typeface="Calibri"/>
              </a:rPr>
              <a:t>5</a:t>
            </a:r>
          </a:p>
        </p:txBody>
      </p:sp>
      <p:sp>
        <p:nvSpPr>
          <p:cNvPr id="15" name="TextBox 14"/>
          <p:cNvSpPr txBox="1"/>
          <p:nvPr/>
        </p:nvSpPr>
        <p:spPr>
          <a:xfrm>
            <a:off x="1600200" y="5513832"/>
            <a:ext cx="9692640" cy="713232"/>
          </a:xfrm>
          <a:prstGeom prst="rect">
            <a:avLst/>
          </a:prstGeom>
          <a:noFill/>
        </p:spPr>
        <p:txBody>
          <a:bodyPr wrap="square" anchor="t" lIns="0" rIns="0" tIns="0" bIns="0">
            <a:spAutoFit/>
          </a:bodyPr>
          <a:lstStyle/>
          <a:p>
            <a:pPr algn="l">
              <a:spcAft>
                <a:spcPts val="300"/>
              </a:spcAft>
            </a:pPr>
            <a:r>
              <a:rPr sz="1900" b="1" i="0">
                <a:solidFill>
                  <a:srgbClr val="FFFFFF"/>
                </a:solidFill>
                <a:latin typeface="Calibri"/>
              </a:rPr>
              <a:t>Pool Configuration</a:t>
            </a:r>
          </a:p>
          <a:p>
            <a:pPr algn="l">
              <a:spcAft>
                <a:spcPts val="100"/>
              </a:spcAft>
            </a:pPr>
            <a:r>
              <a:rPr sz="1500" b="0" i="0">
                <a:solidFill>
                  <a:srgbClr val="94A3B8"/>
                </a:solidFill>
                <a:latin typeface="Calibri"/>
              </a:rPr>
              <a:t>Immutable parameters set once at pool initialization</a:t>
            </a:r>
          </a:p>
        </p:txBody>
      </p:sp>
      <p:sp>
        <p:nvSpPr>
          <p:cNvPr id="16" name="TextBox 15"/>
          <p:cNvSpPr txBox="1"/>
          <p:nvPr/>
        </p:nvSpPr>
        <p:spPr>
          <a:xfrm>
            <a:off x="914400" y="6263640"/>
            <a:ext cx="10360152" cy="411480"/>
          </a:xfrm>
          <a:prstGeom prst="rect">
            <a:avLst/>
          </a:prstGeom>
          <a:noFill/>
        </p:spPr>
        <p:txBody>
          <a:bodyPr wrap="square" anchor="ctr" lIns="0" rIns="0" tIns="0" bIns="0">
            <a:spAutoFit/>
          </a:bodyPr>
          <a:lstStyle/>
          <a:p>
            <a:pPr algn="ctr"/>
            <a:r>
              <a:rPr sz="1700" b="1" i="0">
                <a:solidFill>
                  <a:srgbClr val="00D395"/>
                </a:solidFill>
                <a:latin typeface="Calibri"/>
              </a:rPr>
              <a:t>Every pillar is enforced on-chain. No off-chain assumptions.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UNDER THE HOOD</a:t>
            </a:r>
          </a:p>
        </p:txBody>
      </p:sp>
      <p:sp>
        <p:nvSpPr>
          <p:cNvPr id="4" name="TextBox 3"/>
          <p:cNvSpPr txBox="1"/>
          <p:nvPr/>
        </p:nvSpPr>
        <p:spPr>
          <a:xfrm>
            <a:off x="914400" y="731520"/>
            <a:ext cx="10360152" cy="640080"/>
          </a:xfrm>
          <a:prstGeom prst="rect">
            <a:avLst/>
          </a:prstGeom>
          <a:noFill/>
        </p:spPr>
        <p:txBody>
          <a:bodyPr wrap="square" anchor="t" lIns="0" rIns="0" tIns="0" bIns="0">
            <a:spAutoFit/>
          </a:bodyPr>
          <a:lstStyle/>
          <a:p>
            <a:pPr algn="ctr"/>
            <a:r>
              <a:rPr sz="3000" b="1" i="0">
                <a:solidFill>
                  <a:srgbClr val="FFFFFF"/>
                </a:solidFill>
                <a:latin typeface="Calibri"/>
              </a:rPr>
              <a:t>How Coverage Becomes a Claim</a:t>
            </a:r>
          </a:p>
        </p:txBody>
      </p:sp>
      <p:sp>
        <p:nvSpPr>
          <p:cNvPr id="5" name="Rounded Rectangle 4"/>
          <p:cNvSpPr/>
          <p:nvPr/>
        </p:nvSpPr>
        <p:spPr>
          <a:xfrm>
            <a:off x="502920" y="1965960"/>
            <a:ext cx="1627632"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965960"/>
            <a:ext cx="1627632" cy="868680"/>
          </a:xfrm>
          <a:prstGeom prst="rect">
            <a:avLst/>
          </a:prstGeom>
          <a:noFill/>
        </p:spPr>
        <p:txBody>
          <a:bodyPr wrap="square" anchor="ctr" lIns="0" rIns="0" tIns="0" bIns="0">
            <a:spAutoFit/>
          </a:bodyPr>
          <a:lstStyle/>
          <a:p>
            <a:pPr algn="ctr"/>
            <a:r>
              <a:rPr sz="1350" b="1" i="0">
                <a:solidFill>
                  <a:srgbClr val="FFFFFF"/>
                </a:solidFill>
                <a:latin typeface="Consolas"/>
              </a:rPr>
              <a:t>LP Deposits</a:t>
            </a:r>
          </a:p>
        </p:txBody>
      </p:sp>
      <p:sp>
        <p:nvSpPr>
          <p:cNvPr id="7" name="TextBox 6"/>
          <p:cNvSpPr txBox="1"/>
          <p:nvPr/>
        </p:nvSpPr>
        <p:spPr>
          <a:xfrm>
            <a:off x="2089404" y="2171700"/>
            <a:ext cx="457200" cy="457200"/>
          </a:xfrm>
          <a:prstGeom prst="rect">
            <a:avLst/>
          </a:prstGeom>
          <a:noFill/>
        </p:spPr>
        <p:txBody>
          <a:bodyPr wrap="square" anchor="ctr" lIns="0" rIns="0" tIns="0" bIns="0">
            <a:spAutoFit/>
          </a:bodyPr>
          <a:lstStyle/>
          <a:p>
            <a:pPr algn="ctr"/>
            <a:r>
              <a:rPr sz="2400" b="1" i="0">
                <a:solidFill>
                  <a:srgbClr val="00D395"/>
                </a:solidFill>
                <a:latin typeface="Calibri"/>
              </a:rPr>
              <a:t>→</a:t>
            </a:r>
          </a:p>
        </p:txBody>
      </p:sp>
      <p:sp>
        <p:nvSpPr>
          <p:cNvPr id="8" name="Rounded Rectangle 7"/>
          <p:cNvSpPr/>
          <p:nvPr/>
        </p:nvSpPr>
        <p:spPr>
          <a:xfrm>
            <a:off x="2414015" y="1965960"/>
            <a:ext cx="1627632" cy="868680"/>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14015" y="1965960"/>
            <a:ext cx="1627632" cy="868680"/>
          </a:xfrm>
          <a:prstGeom prst="rect">
            <a:avLst/>
          </a:prstGeom>
          <a:noFill/>
        </p:spPr>
        <p:txBody>
          <a:bodyPr wrap="square" anchor="ctr" lIns="0" rIns="0" tIns="0" bIns="0">
            <a:spAutoFit/>
          </a:bodyPr>
          <a:lstStyle/>
          <a:p>
            <a:pPr algn="ctr"/>
            <a:r>
              <a:rPr sz="1350" b="1" i="0">
                <a:solidFill>
                  <a:srgbClr val="00D395"/>
                </a:solidFill>
                <a:latin typeface="Consolas"/>
              </a:rPr>
              <a:t>_accrue()</a:t>
            </a:r>
          </a:p>
        </p:txBody>
      </p:sp>
      <p:sp>
        <p:nvSpPr>
          <p:cNvPr id="10" name="TextBox 9"/>
          <p:cNvSpPr txBox="1"/>
          <p:nvPr/>
        </p:nvSpPr>
        <p:spPr>
          <a:xfrm>
            <a:off x="4000500" y="2171700"/>
            <a:ext cx="457200" cy="457200"/>
          </a:xfrm>
          <a:prstGeom prst="rect">
            <a:avLst/>
          </a:prstGeom>
          <a:noFill/>
        </p:spPr>
        <p:txBody>
          <a:bodyPr wrap="square" anchor="ctr" lIns="0" rIns="0" tIns="0" bIns="0">
            <a:spAutoFit/>
          </a:bodyPr>
          <a:lstStyle/>
          <a:p>
            <a:pPr algn="ctr"/>
            <a:r>
              <a:rPr sz="2400" b="1" i="0">
                <a:solidFill>
                  <a:srgbClr val="00D395"/>
                </a:solidFill>
                <a:latin typeface="Calibri"/>
              </a:rPr>
              <a:t>→</a:t>
            </a:r>
          </a:p>
        </p:txBody>
      </p:sp>
      <p:sp>
        <p:nvSpPr>
          <p:cNvPr id="11" name="Rounded Rectangle 10"/>
          <p:cNvSpPr/>
          <p:nvPr/>
        </p:nvSpPr>
        <p:spPr>
          <a:xfrm>
            <a:off x="4325112" y="1965960"/>
            <a:ext cx="1627632"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5112" y="1965960"/>
            <a:ext cx="1627632" cy="868680"/>
          </a:xfrm>
          <a:prstGeom prst="rect">
            <a:avLst/>
          </a:prstGeom>
          <a:noFill/>
        </p:spPr>
        <p:txBody>
          <a:bodyPr wrap="square" anchor="ctr" lIns="0" rIns="0" tIns="0" bIns="0">
            <a:spAutoFit/>
          </a:bodyPr>
          <a:lstStyle/>
          <a:p>
            <a:pPr algn="ctr"/>
            <a:r>
              <a:rPr sz="1350" b="1" i="0">
                <a:solidFill>
                  <a:srgbClr val="FFFFFF"/>
                </a:solidFill>
                <a:latin typeface="Consolas"/>
              </a:rPr>
              <a:t>afterSwap()</a:t>
            </a:r>
          </a:p>
        </p:txBody>
      </p:sp>
      <p:sp>
        <p:nvSpPr>
          <p:cNvPr id="13" name="TextBox 12"/>
          <p:cNvSpPr txBox="1"/>
          <p:nvPr/>
        </p:nvSpPr>
        <p:spPr>
          <a:xfrm>
            <a:off x="5911596" y="2171700"/>
            <a:ext cx="457200" cy="457200"/>
          </a:xfrm>
          <a:prstGeom prst="rect">
            <a:avLst/>
          </a:prstGeom>
          <a:noFill/>
        </p:spPr>
        <p:txBody>
          <a:bodyPr wrap="square" anchor="ctr" lIns="0" rIns="0" tIns="0" bIns="0">
            <a:spAutoFit/>
          </a:bodyPr>
          <a:lstStyle/>
          <a:p>
            <a:pPr algn="ctr"/>
            <a:r>
              <a:rPr sz="2400" b="1" i="0">
                <a:solidFill>
                  <a:srgbClr val="00D395"/>
                </a:solidFill>
                <a:latin typeface="Calibri"/>
              </a:rPr>
              <a:t>→</a:t>
            </a:r>
          </a:p>
        </p:txBody>
      </p:sp>
      <p:sp>
        <p:nvSpPr>
          <p:cNvPr id="14" name="Rounded Rectangle 13"/>
          <p:cNvSpPr/>
          <p:nvPr/>
        </p:nvSpPr>
        <p:spPr>
          <a:xfrm>
            <a:off x="6236207" y="1965960"/>
            <a:ext cx="1627632"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6207" y="1965960"/>
            <a:ext cx="1627632" cy="868680"/>
          </a:xfrm>
          <a:prstGeom prst="rect">
            <a:avLst/>
          </a:prstGeom>
          <a:noFill/>
        </p:spPr>
        <p:txBody>
          <a:bodyPr wrap="square" anchor="ctr" lIns="0" rIns="0" tIns="0" bIns="0">
            <a:spAutoFit/>
          </a:bodyPr>
          <a:lstStyle/>
          <a:p>
            <a:pPr algn="ctr"/>
            <a:r>
              <a:rPr sz="1350" b="1" i="0">
                <a:solidFill>
                  <a:srgbClr val="FFFFFF"/>
                </a:solidFill>
                <a:latin typeface="Consolas"/>
              </a:rPr>
              <a:t>_computeIL()</a:t>
            </a:r>
          </a:p>
        </p:txBody>
      </p:sp>
      <p:sp>
        <p:nvSpPr>
          <p:cNvPr id="16" name="TextBox 15"/>
          <p:cNvSpPr txBox="1"/>
          <p:nvPr/>
        </p:nvSpPr>
        <p:spPr>
          <a:xfrm>
            <a:off x="7822692" y="2171700"/>
            <a:ext cx="457200" cy="457200"/>
          </a:xfrm>
          <a:prstGeom prst="rect">
            <a:avLst/>
          </a:prstGeom>
          <a:noFill/>
        </p:spPr>
        <p:txBody>
          <a:bodyPr wrap="square" anchor="ctr" lIns="0" rIns="0" tIns="0" bIns="0">
            <a:spAutoFit/>
          </a:bodyPr>
          <a:lstStyle/>
          <a:p>
            <a:pPr algn="ctr"/>
            <a:r>
              <a:rPr sz="2400" b="1" i="0">
                <a:solidFill>
                  <a:srgbClr val="00D395"/>
                </a:solidFill>
                <a:latin typeface="Calibri"/>
              </a:rPr>
              <a:t>→</a:t>
            </a:r>
          </a:p>
        </p:txBody>
      </p:sp>
      <p:sp>
        <p:nvSpPr>
          <p:cNvPr id="17" name="Rounded Rectangle 16"/>
          <p:cNvSpPr/>
          <p:nvPr/>
        </p:nvSpPr>
        <p:spPr>
          <a:xfrm>
            <a:off x="8147304" y="1965960"/>
            <a:ext cx="1627632" cy="868680"/>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47304" y="1965960"/>
            <a:ext cx="1627632" cy="868680"/>
          </a:xfrm>
          <a:prstGeom prst="rect">
            <a:avLst/>
          </a:prstGeom>
          <a:noFill/>
        </p:spPr>
        <p:txBody>
          <a:bodyPr wrap="square" anchor="ctr" lIns="0" rIns="0" tIns="0" bIns="0">
            <a:spAutoFit/>
          </a:bodyPr>
          <a:lstStyle/>
          <a:p>
            <a:pPr algn="ctr"/>
            <a:r>
              <a:rPr sz="1350" b="1" i="0">
                <a:solidFill>
                  <a:srgbClr val="00D395"/>
                </a:solidFill>
                <a:latin typeface="Consolas"/>
              </a:rPr>
              <a:t>_computePayout()</a:t>
            </a:r>
          </a:p>
        </p:txBody>
      </p:sp>
      <p:sp>
        <p:nvSpPr>
          <p:cNvPr id="19" name="TextBox 18"/>
          <p:cNvSpPr txBox="1"/>
          <p:nvPr/>
        </p:nvSpPr>
        <p:spPr>
          <a:xfrm>
            <a:off x="9733788" y="2171700"/>
            <a:ext cx="457200" cy="457200"/>
          </a:xfrm>
          <a:prstGeom prst="rect">
            <a:avLst/>
          </a:prstGeom>
          <a:noFill/>
        </p:spPr>
        <p:txBody>
          <a:bodyPr wrap="square" anchor="ctr" lIns="0" rIns="0" tIns="0" bIns="0">
            <a:spAutoFit/>
          </a:bodyPr>
          <a:lstStyle/>
          <a:p>
            <a:pPr algn="ctr"/>
            <a:r>
              <a:rPr sz="2400" b="1" i="0">
                <a:solidFill>
                  <a:srgbClr val="00D395"/>
                </a:solidFill>
                <a:latin typeface="Calibri"/>
              </a:rPr>
              <a:t>→</a:t>
            </a:r>
          </a:p>
        </p:txBody>
      </p:sp>
      <p:sp>
        <p:nvSpPr>
          <p:cNvPr id="20" name="Rounded Rectangle 19"/>
          <p:cNvSpPr/>
          <p:nvPr/>
        </p:nvSpPr>
        <p:spPr>
          <a:xfrm>
            <a:off x="10058400" y="1965960"/>
            <a:ext cx="1627632" cy="86868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0" y="1965960"/>
            <a:ext cx="1627632" cy="868680"/>
          </a:xfrm>
          <a:prstGeom prst="rect">
            <a:avLst/>
          </a:prstGeom>
          <a:noFill/>
        </p:spPr>
        <p:txBody>
          <a:bodyPr wrap="square" anchor="ctr" lIns="0" rIns="0" tIns="0" bIns="0">
            <a:spAutoFit/>
          </a:bodyPr>
          <a:lstStyle/>
          <a:p>
            <a:pPr algn="ctr"/>
            <a:r>
              <a:rPr sz="1350" b="1" i="0">
                <a:solidFill>
                  <a:srgbClr val="FFFFFF"/>
                </a:solidFill>
                <a:latin typeface="Consolas"/>
              </a:rPr>
              <a:t>ClaimSettled</a:t>
            </a:r>
          </a:p>
        </p:txBody>
      </p:sp>
      <p:sp>
        <p:nvSpPr>
          <p:cNvPr id="22" name="Rounded Rectangle 21"/>
          <p:cNvSpPr/>
          <p:nvPr/>
        </p:nvSpPr>
        <p:spPr>
          <a:xfrm>
            <a:off x="777240" y="3520440"/>
            <a:ext cx="5120640" cy="1737360"/>
          </a:xfrm>
          <a:prstGeom prst="roundRect">
            <a:avLst>
              <a:gd name="adj" fmla="val 8000"/>
            </a:avLst>
          </a:prstGeom>
          <a:solidFill>
            <a:srgbClr val="1E2433"/>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749039"/>
            <a:ext cx="4617720" cy="1325880"/>
          </a:xfrm>
          <a:prstGeom prst="rect">
            <a:avLst/>
          </a:prstGeom>
          <a:noFill/>
        </p:spPr>
        <p:txBody>
          <a:bodyPr wrap="square" anchor="t" lIns="0" rIns="0" tIns="0" bIns="0">
            <a:spAutoFit/>
          </a:bodyPr>
          <a:lstStyle/>
          <a:p>
            <a:pPr algn="l">
              <a:spcAft>
                <a:spcPts val="500"/>
              </a:spcAft>
            </a:pPr>
            <a:r>
              <a:rPr sz="1600" b="1" i="0">
                <a:solidFill>
                  <a:srgbClr val="F59E0B"/>
                </a:solidFill>
                <a:latin typeface="Calibri"/>
              </a:rPr>
              <a:t>⚡  Swaps never iterate positions —</a:t>
            </a:r>
          </a:p>
          <a:p>
            <a:pPr algn="l">
              <a:spcAft>
                <a:spcPts val="400"/>
              </a:spcAft>
            </a:pPr>
            <a:r>
              <a:rPr sz="1500" b="0" i="0">
                <a:solidFill>
                  <a:srgbClr val="FFFFFF"/>
                </a:solidFill>
                <a:latin typeface="Calibri"/>
              </a:rPr>
              <a:t>accrual is lazy and position-specific.</a:t>
            </a:r>
          </a:p>
          <a:p>
            <a:pPr algn="l"/>
            <a:r>
              <a:rPr sz="1500" b="1" i="0">
                <a:solidFill>
                  <a:srgbClr val="FFFFFF"/>
                </a:solidFill>
                <a:latin typeface="Calibri"/>
              </a:rPr>
              <a:t>O(1) gas on every swap.</a:t>
            </a:r>
          </a:p>
        </p:txBody>
      </p:sp>
      <p:sp>
        <p:nvSpPr>
          <p:cNvPr id="24" name="Rounded Rectangle 23"/>
          <p:cNvSpPr/>
          <p:nvPr/>
        </p:nvSpPr>
        <p:spPr>
          <a:xfrm>
            <a:off x="6172200" y="3520440"/>
            <a:ext cx="5212080" cy="1737360"/>
          </a:xfrm>
          <a:prstGeom prst="roundRect">
            <a:avLst>
              <a:gd name="adj" fmla="val 8000"/>
            </a:avLst>
          </a:prstGeom>
          <a:solidFill>
            <a:srgbClr val="1E2433"/>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49039"/>
            <a:ext cx="4709160" cy="1371600"/>
          </a:xfrm>
          <a:prstGeom prst="rect">
            <a:avLst/>
          </a:prstGeom>
          <a:noFill/>
        </p:spPr>
        <p:txBody>
          <a:bodyPr wrap="square" anchor="t" lIns="0" rIns="0" tIns="0" bIns="0">
            <a:spAutoFit/>
          </a:bodyPr>
          <a:lstStyle/>
          <a:p>
            <a:pPr algn="l">
              <a:spcAft>
                <a:spcPts val="500"/>
              </a:spcAft>
            </a:pPr>
            <a:r>
              <a:rPr sz="1600" b="1" i="0">
                <a:solidFill>
                  <a:srgbClr val="F59E0B"/>
                </a:solidFill>
                <a:latin typeface="Calibri"/>
              </a:rPr>
              <a:t>⚡  Coverage uses Actual/365 Fixed</a:t>
            </a:r>
          </a:p>
          <a:p>
            <a:pPr algn="l">
              <a:spcAft>
                <a:spcPts val="400"/>
              </a:spcAft>
            </a:pPr>
            <a:r>
              <a:rPr sz="1500" b="0" i="0">
                <a:solidFill>
                  <a:srgbClr val="FFFFFF"/>
                </a:solidFill>
                <a:latin typeface="Calibri"/>
              </a:rPr>
              <a:t>day-count convention —</a:t>
            </a:r>
          </a:p>
          <a:p>
            <a:pPr algn="l">
              <a:spcAft>
                <a:spcPts val="200"/>
              </a:spcAft>
            </a:pPr>
            <a:r>
              <a:rPr sz="1500" b="0" i="0">
                <a:solidFill>
                  <a:srgbClr val="FFFFFF"/>
                </a:solidFill>
                <a:latin typeface="Calibri"/>
              </a:rPr>
              <a:t>the same standard used in</a:t>
            </a:r>
          </a:p>
          <a:p>
            <a:pPr algn="l"/>
            <a:r>
              <a:rPr sz="1500" b="1" i="0">
                <a:solidFill>
                  <a:srgbClr val="FFFFFF"/>
                </a:solidFill>
                <a:latin typeface="Calibri"/>
              </a:rPr>
              <a:t>fixed-income finance.</a:t>
            </a:r>
          </a:p>
        </p:txBody>
      </p:sp>
      <p:sp>
        <p:nvSpPr>
          <p:cNvPr id="26" name="TextBox 25"/>
          <p:cNvSpPr txBox="1"/>
          <p:nvPr/>
        </p:nvSpPr>
        <p:spPr>
          <a:xfrm>
            <a:off x="914400" y="5806440"/>
            <a:ext cx="10360152" cy="457200"/>
          </a:xfrm>
          <a:prstGeom prst="rect">
            <a:avLst/>
          </a:prstGeom>
          <a:noFill/>
        </p:spPr>
        <p:txBody>
          <a:bodyPr wrap="square" anchor="ctr" lIns="0" rIns="0" tIns="0" bIns="0">
            <a:spAutoFit/>
          </a:bodyPr>
          <a:lstStyle/>
          <a:p>
            <a:pPr algn="ctr"/>
            <a:r>
              <a:rPr sz="1800" b="1" i="0">
                <a:solidFill>
                  <a:srgbClr val="00D395"/>
                </a:solidFill>
                <a:latin typeface="Calibri"/>
              </a:rPr>
              <a:t>Four functions. One atomic lifecycle. All on-chain.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LIVE DEMO</a:t>
            </a:r>
          </a:p>
        </p:txBody>
      </p:sp>
      <p:sp>
        <p:nvSpPr>
          <p:cNvPr id="4" name="TextBox 3"/>
          <p:cNvSpPr txBox="1"/>
          <p:nvPr/>
        </p:nvSpPr>
        <p:spPr>
          <a:xfrm>
            <a:off x="914400" y="731520"/>
            <a:ext cx="10360152" cy="1188720"/>
          </a:xfrm>
          <a:prstGeom prst="rect">
            <a:avLst/>
          </a:prstGeom>
          <a:noFill/>
        </p:spPr>
        <p:txBody>
          <a:bodyPr wrap="square" anchor="t" lIns="0" rIns="0" tIns="0" bIns="0">
            <a:spAutoFit/>
          </a:bodyPr>
          <a:lstStyle/>
          <a:p>
            <a:pPr algn="ctr"/>
            <a:r>
              <a:rPr sz="3000" b="1" i="0">
                <a:solidFill>
                  <a:srgbClr val="FFFFFF"/>
                </a:solidFill>
                <a:latin typeface="Calibri"/>
              </a:rPr>
              <a:t>A Complete LP Lifecycle</a:t>
            </a:r>
          </a:p>
          <a:p>
            <a:pPr algn="ctr"/>
            <a:r>
              <a:rPr sz="3000" b="1" i="0">
                <a:solidFill>
                  <a:srgbClr val="FFFFFF"/>
                </a:solidFill>
                <a:latin typeface="Calibri"/>
              </a:rPr>
              <a:t>on Sepolia Testnet</a:t>
            </a:r>
          </a:p>
        </p:txBody>
      </p:sp>
      <p:sp>
        <p:nvSpPr>
          <p:cNvPr id="5" name="Rounded Rectangle 4"/>
          <p:cNvSpPr/>
          <p:nvPr/>
        </p:nvSpPr>
        <p:spPr>
          <a:xfrm>
            <a:off x="777240" y="2057400"/>
            <a:ext cx="3383280" cy="233172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221992"/>
            <a:ext cx="3383280" cy="411480"/>
          </a:xfrm>
          <a:prstGeom prst="rect">
            <a:avLst/>
          </a:prstGeom>
          <a:noFill/>
        </p:spPr>
        <p:txBody>
          <a:bodyPr wrap="square" anchor="t" lIns="0" rIns="0" tIns="0" bIns="0">
            <a:spAutoFit/>
          </a:bodyPr>
          <a:lstStyle/>
          <a:p>
            <a:pPr algn="ctr"/>
            <a:r>
              <a:rPr sz="1800" b="1" i="0">
                <a:solidFill>
                  <a:srgbClr val="00D395"/>
                </a:solidFill>
                <a:latin typeface="Calibri"/>
              </a:rPr>
              <a:t>📍 Setup</a:t>
            </a:r>
          </a:p>
        </p:txBody>
      </p:sp>
      <p:sp>
        <p:nvSpPr>
          <p:cNvPr id="7" name="Rectangle 6"/>
          <p:cNvSpPr/>
          <p:nvPr/>
        </p:nvSpPr>
        <p:spPr>
          <a:xfrm>
            <a:off x="1325880" y="2715768"/>
            <a:ext cx="228600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926080"/>
            <a:ext cx="2651760" cy="1371599"/>
          </a:xfrm>
          <a:prstGeom prst="rect">
            <a:avLst/>
          </a:prstGeom>
          <a:noFill/>
        </p:spPr>
        <p:txBody>
          <a:bodyPr wrap="square" anchor="t" lIns="0" rIns="0" tIns="0" bIns="0">
            <a:spAutoFit/>
          </a:bodyPr>
          <a:lstStyle/>
          <a:p>
            <a:pPr algn="ctr">
              <a:spcAft>
                <a:spcPts val="500"/>
              </a:spcAft>
            </a:pPr>
            <a:r>
              <a:rPr sz="1450" b="0" i="0">
                <a:solidFill>
                  <a:srgbClr val="FFFFFF"/>
                </a:solidFill>
                <a:latin typeface="Calibri"/>
              </a:rPr>
              <a:t>Live Sepolia hook</a:t>
            </a:r>
          </a:p>
          <a:p>
            <a:pPr algn="ctr">
              <a:spcAft>
                <a:spcPts val="500"/>
              </a:spcAft>
            </a:pPr>
            <a:r>
              <a:rPr sz="1450" b="0" i="0">
                <a:solidFill>
                  <a:srgbClr val="FFFFFF"/>
                </a:solidFill>
                <a:latin typeface="Calibri"/>
              </a:rPr>
              <a:t>Buffer seeded</a:t>
            </a:r>
          </a:p>
          <a:p>
            <a:pPr algn="ctr">
              <a:spcAft>
                <a:spcPts val="500"/>
              </a:spcAft>
            </a:pPr>
            <a:r>
              <a:rPr sz="1450" b="0" i="0">
                <a:solidFill>
                  <a:srgbClr val="FFFFFF"/>
                </a:solidFill>
                <a:latin typeface="Calibri"/>
              </a:rPr>
              <a:t>10,000 USDC</a:t>
            </a:r>
          </a:p>
        </p:txBody>
      </p:sp>
      <p:sp>
        <p:nvSpPr>
          <p:cNvPr id="9" name="Rounded Rectangle 8"/>
          <p:cNvSpPr/>
          <p:nvPr/>
        </p:nvSpPr>
        <p:spPr>
          <a:xfrm>
            <a:off x="4434840" y="2057400"/>
            <a:ext cx="3383280" cy="233172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34840" y="2221992"/>
            <a:ext cx="3383280" cy="411480"/>
          </a:xfrm>
          <a:prstGeom prst="rect">
            <a:avLst/>
          </a:prstGeom>
          <a:noFill/>
        </p:spPr>
        <p:txBody>
          <a:bodyPr wrap="square" anchor="t" lIns="0" rIns="0" tIns="0" bIns="0">
            <a:spAutoFit/>
          </a:bodyPr>
          <a:lstStyle/>
          <a:p>
            <a:pPr algn="ctr"/>
            <a:r>
              <a:rPr sz="1800" b="1" i="0">
                <a:solidFill>
                  <a:srgbClr val="00D395"/>
                </a:solidFill>
                <a:latin typeface="Calibri"/>
              </a:rPr>
              <a:t>📈 Lifecycle</a:t>
            </a:r>
          </a:p>
        </p:txBody>
      </p:sp>
      <p:sp>
        <p:nvSpPr>
          <p:cNvPr id="11" name="Rectangle 10"/>
          <p:cNvSpPr/>
          <p:nvPr/>
        </p:nvSpPr>
        <p:spPr>
          <a:xfrm>
            <a:off x="4983479" y="2715768"/>
            <a:ext cx="228600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926080"/>
            <a:ext cx="2651760" cy="1371599"/>
          </a:xfrm>
          <a:prstGeom prst="rect">
            <a:avLst/>
          </a:prstGeom>
          <a:noFill/>
        </p:spPr>
        <p:txBody>
          <a:bodyPr wrap="square" anchor="t" lIns="0" rIns="0" tIns="0" bIns="0">
            <a:spAutoFit/>
          </a:bodyPr>
          <a:lstStyle/>
          <a:p>
            <a:pPr algn="ctr">
              <a:spcAft>
                <a:spcPts val="500"/>
              </a:spcAft>
            </a:pPr>
            <a:r>
              <a:rPr sz="1450" b="0" i="0">
                <a:solidFill>
                  <a:srgbClr val="FFFFFF"/>
                </a:solidFill>
                <a:latin typeface="Calibri"/>
              </a:rPr>
              <a:t>LP deposits</a:t>
            </a:r>
          </a:p>
          <a:p>
            <a:pPr algn="ctr">
              <a:spcAft>
                <a:spcPts val="500"/>
              </a:spcAft>
            </a:pPr>
            <a:r>
              <a:rPr sz="1450" b="0" i="0">
                <a:solidFill>
                  <a:srgbClr val="FFFFFF"/>
                </a:solidFill>
                <a:latin typeface="Calibri"/>
              </a:rPr>
              <a:t>In-range accrual</a:t>
            </a:r>
          </a:p>
          <a:p>
            <a:pPr algn="ctr">
              <a:spcAft>
                <a:spcPts val="500"/>
              </a:spcAft>
            </a:pPr>
            <a:r>
              <a:rPr sz="1450" b="0" i="0">
                <a:solidFill>
                  <a:srgbClr val="FFFFFF"/>
                </a:solidFill>
                <a:latin typeface="Calibri"/>
              </a:rPr>
              <a:t>Range transition</a:t>
            </a:r>
          </a:p>
          <a:p>
            <a:pPr algn="ctr">
              <a:spcAft>
                <a:spcPts val="500"/>
              </a:spcAft>
            </a:pPr>
            <a:r>
              <a:rPr sz="1450" b="0" i="0">
                <a:solidFill>
                  <a:srgbClr val="FFFFFF"/>
                </a:solidFill>
                <a:latin typeface="Calibri"/>
              </a:rPr>
              <a:t>out + back in</a:t>
            </a:r>
          </a:p>
          <a:p>
            <a:pPr algn="ctr">
              <a:spcAft>
                <a:spcPts val="500"/>
              </a:spcAft>
            </a:pPr>
            <a:r>
              <a:rPr sz="1450" b="0" i="0">
                <a:solidFill>
                  <a:srgbClr val="FFFFFF"/>
                </a:solidFill>
                <a:latin typeface="Calibri"/>
              </a:rPr>
              <a:t>Buffer self-funds</a:t>
            </a:r>
          </a:p>
        </p:txBody>
      </p:sp>
      <p:sp>
        <p:nvSpPr>
          <p:cNvPr id="13" name="Rounded Rectangle 12"/>
          <p:cNvSpPr/>
          <p:nvPr/>
        </p:nvSpPr>
        <p:spPr>
          <a:xfrm>
            <a:off x="8092440" y="2057400"/>
            <a:ext cx="3383280" cy="233172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2440" y="2221992"/>
            <a:ext cx="3383280" cy="411480"/>
          </a:xfrm>
          <a:prstGeom prst="rect">
            <a:avLst/>
          </a:prstGeom>
          <a:noFill/>
        </p:spPr>
        <p:txBody>
          <a:bodyPr wrap="square" anchor="t" lIns="0" rIns="0" tIns="0" bIns="0">
            <a:spAutoFit/>
          </a:bodyPr>
          <a:lstStyle/>
          <a:p>
            <a:pPr algn="ctr"/>
            <a:r>
              <a:rPr sz="1800" b="1" i="0">
                <a:solidFill>
                  <a:srgbClr val="00D395"/>
                </a:solidFill>
                <a:latin typeface="Calibri"/>
              </a:rPr>
              <a:t>💰 Settlement</a:t>
            </a:r>
          </a:p>
        </p:txBody>
      </p:sp>
      <p:sp>
        <p:nvSpPr>
          <p:cNvPr id="15" name="Rectangle 14"/>
          <p:cNvSpPr/>
          <p:nvPr/>
        </p:nvSpPr>
        <p:spPr>
          <a:xfrm>
            <a:off x="8641080" y="2715768"/>
            <a:ext cx="228600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2926080"/>
            <a:ext cx="2651760" cy="1371599"/>
          </a:xfrm>
          <a:prstGeom prst="rect">
            <a:avLst/>
          </a:prstGeom>
          <a:noFill/>
        </p:spPr>
        <p:txBody>
          <a:bodyPr wrap="square" anchor="t" lIns="0" rIns="0" tIns="0" bIns="0">
            <a:spAutoFit/>
          </a:bodyPr>
          <a:lstStyle/>
          <a:p>
            <a:pPr algn="ctr">
              <a:spcAft>
                <a:spcPts val="500"/>
              </a:spcAft>
            </a:pPr>
            <a:r>
              <a:rPr sz="1450" b="0" i="0">
                <a:solidFill>
                  <a:srgbClr val="FFFFFF"/>
                </a:solidFill>
                <a:latin typeface="Calibri"/>
              </a:rPr>
              <a:t>Full withdrawal</a:t>
            </a:r>
          </a:p>
          <a:p>
            <a:pPr algn="ctr">
              <a:spcAft>
                <a:spcPts val="500"/>
              </a:spcAft>
            </a:pPr>
            <a:r>
              <a:rPr sz="1450" b="0" i="0">
                <a:solidFill>
                  <a:srgbClr val="FFFFFF"/>
                </a:solidFill>
                <a:latin typeface="Calibri"/>
              </a:rPr>
              <a:t>IL computed</a:t>
            </a:r>
          </a:p>
          <a:p>
            <a:pPr algn="ctr">
              <a:spcAft>
                <a:spcPts val="500"/>
              </a:spcAft>
            </a:pPr>
            <a:r>
              <a:rPr sz="1450" b="0" i="0">
                <a:solidFill>
                  <a:srgbClr val="FFFFFF"/>
                </a:solidFill>
                <a:latin typeface="Calibri"/>
              </a:rPr>
              <a:t>Three caps applied</a:t>
            </a:r>
          </a:p>
          <a:p>
            <a:pPr algn="ctr">
              <a:spcAft>
                <a:spcPts val="500"/>
              </a:spcAft>
            </a:pPr>
            <a:r>
              <a:rPr sz="1450" b="0" i="0">
                <a:solidFill>
                  <a:srgbClr val="FFFFFF"/>
                </a:solidFill>
                <a:latin typeface="Calibri"/>
              </a:rPr>
              <a:t>ClaimSettled</a:t>
            </a:r>
          </a:p>
        </p:txBody>
      </p:sp>
      <p:sp>
        <p:nvSpPr>
          <p:cNvPr id="17" name="Rounded Rectangle 16"/>
          <p:cNvSpPr/>
          <p:nvPr/>
        </p:nvSpPr>
        <p:spPr>
          <a:xfrm>
            <a:off x="777240" y="4617720"/>
            <a:ext cx="10634472" cy="1143000"/>
          </a:xfrm>
          <a:prstGeom prst="roundRect">
            <a:avLst>
              <a:gd name="adj" fmla="val 8000"/>
            </a:avLst>
          </a:prstGeom>
          <a:solidFill>
            <a:srgbClr val="1E2433"/>
          </a:solidFill>
          <a:ln w="25400">
            <a:solidFill>
              <a:srgbClr val="00D39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800600"/>
            <a:ext cx="10058400" cy="868680"/>
          </a:xfrm>
          <a:prstGeom prst="rect">
            <a:avLst/>
          </a:prstGeom>
          <a:noFill/>
        </p:spPr>
        <p:txBody>
          <a:bodyPr wrap="square" anchor="t" lIns="0" rIns="0" tIns="0" bIns="0">
            <a:spAutoFit/>
          </a:bodyPr>
          <a:lstStyle/>
          <a:p>
            <a:pPr algn="l">
              <a:spcAft>
                <a:spcPts val="300"/>
              </a:spcAft>
            </a:pPr>
            <a:r>
              <a:rPr sz="1600" b="1" i="0">
                <a:solidFill>
                  <a:srgbClr val="00D395"/>
                </a:solidFill>
                <a:latin typeface="Calibri"/>
              </a:rPr>
              <a:t>⚡  Reactive Network (Lasna) monitors the hook autonomously</a:t>
            </a:r>
          </a:p>
          <a:p>
            <a:pPr algn="l">
              <a:spcAft>
                <a:spcPts val="200"/>
              </a:spcAft>
            </a:pPr>
            <a:r>
              <a:rPr sz="1450" b="0" i="0">
                <a:solidFill>
                  <a:srgbClr val="FFFFFF"/>
                </a:solidFill>
                <a:latin typeface="Calibri"/>
              </a:rPr>
              <a:t>Range transitions detected cross-chain — no keepers</a:t>
            </a:r>
          </a:p>
          <a:p>
            <a:pPr algn="l"/>
            <a:r>
              <a:rPr sz="1450" b="0" i="0">
                <a:solidFill>
                  <a:srgbClr val="FFFFFF"/>
                </a:solidFill>
                <a:latin typeface="Consolas"/>
              </a:rPr>
              <a:t>checkpointAndEmitOutOfRange fires automatically</a:t>
            </a:r>
          </a:p>
        </p:txBody>
      </p:sp>
      <p:sp>
        <p:nvSpPr>
          <p:cNvPr id="19" name="TextBox 18"/>
          <p:cNvSpPr txBox="1"/>
          <p:nvPr/>
        </p:nvSpPr>
        <p:spPr>
          <a:xfrm>
            <a:off x="914400" y="5943600"/>
            <a:ext cx="10360152" cy="731520"/>
          </a:xfrm>
          <a:prstGeom prst="rect">
            <a:avLst/>
          </a:prstGeom>
          <a:noFill/>
        </p:spPr>
        <p:txBody>
          <a:bodyPr wrap="square" anchor="ctr" lIns="0" rIns="0" tIns="0" bIns="0">
            <a:spAutoFit/>
          </a:bodyPr>
          <a:lstStyle/>
          <a:p>
            <a:pPr algn="ctr">
              <a:spcAft>
                <a:spcPts val="100"/>
              </a:spcAft>
            </a:pPr>
            <a:r>
              <a:rPr sz="1450" b="0" i="0">
                <a:solidFill>
                  <a:srgbClr val="94A3B8"/>
                </a:solidFill>
                <a:latin typeface="Calibri"/>
              </a:rPr>
              <a:t>Every event is a real on-chain transaction.</a:t>
            </a:r>
          </a:p>
          <a:p>
            <a:pPr algn="ctr"/>
            <a:r>
              <a:rPr sz="1450" b="0" i="0">
                <a:solidFill>
                  <a:srgbClr val="94A3B8"/>
                </a:solidFill>
                <a:latin typeface="Calibri"/>
              </a:rPr>
              <a:t>Fork of live Sepolia state — vm.warp simulates 45 days.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4572000" cy="365760"/>
          </a:xfrm>
          <a:prstGeom prst="rect">
            <a:avLst/>
          </a:prstGeom>
          <a:noFill/>
        </p:spPr>
        <p:txBody>
          <a:bodyPr wrap="square" anchor="t" lIns="0" rIns="0" tIns="0" bIns="0">
            <a:spAutoFit/>
          </a:bodyPr>
          <a:lstStyle/>
          <a:p>
            <a:pPr algn="l"/>
            <a:r>
              <a:rPr sz="1300" b="1" i="0">
                <a:solidFill>
                  <a:srgbClr val="00D395"/>
                </a:solidFill>
                <a:latin typeface="Calibri"/>
              </a:rPr>
              <a:t>THE KEY DIFFERENTIATOR</a:t>
            </a:r>
          </a:p>
        </p:txBody>
      </p:sp>
      <p:sp>
        <p:nvSpPr>
          <p:cNvPr id="4" name="TextBox 3"/>
          <p:cNvSpPr txBox="1"/>
          <p:nvPr/>
        </p:nvSpPr>
        <p:spPr>
          <a:xfrm>
            <a:off x="914400" y="713232"/>
            <a:ext cx="10360152" cy="1143000"/>
          </a:xfrm>
          <a:prstGeom prst="rect">
            <a:avLst/>
          </a:prstGeom>
          <a:noFill/>
        </p:spPr>
        <p:txBody>
          <a:bodyPr wrap="square" anchor="t" lIns="0" rIns="0" tIns="0" bIns="0">
            <a:spAutoFit/>
          </a:bodyPr>
          <a:lstStyle/>
          <a:p>
            <a:pPr algn="ctr"/>
            <a:r>
              <a:rPr sz="2900" b="1" i="0">
                <a:solidFill>
                  <a:srgbClr val="FFFFFF"/>
                </a:solidFill>
                <a:latin typeface="Calibri"/>
              </a:rPr>
              <a:t>Every LP Gets a Verifiable</a:t>
            </a:r>
          </a:p>
          <a:p>
            <a:pPr algn="ctr"/>
            <a:r>
              <a:rPr sz="2900" b="1" i="0">
                <a:solidFill>
                  <a:srgbClr val="FFFFFF"/>
                </a:solidFill>
                <a:latin typeface="Calibri"/>
              </a:rPr>
              <a:t>Coverage Statement</a:t>
            </a:r>
          </a:p>
        </p:txBody>
      </p:sp>
      <p:sp>
        <p:nvSpPr>
          <p:cNvPr id="5" name="Rounded Rectangle 4"/>
          <p:cNvSpPr/>
          <p:nvPr/>
        </p:nvSpPr>
        <p:spPr>
          <a:xfrm>
            <a:off x="822960" y="1874519"/>
            <a:ext cx="5074920" cy="182880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11679"/>
            <a:ext cx="5074920" cy="384048"/>
          </a:xfrm>
          <a:prstGeom prst="rect">
            <a:avLst/>
          </a:prstGeom>
          <a:noFill/>
        </p:spPr>
        <p:txBody>
          <a:bodyPr wrap="square" anchor="t" lIns="0" rIns="0" tIns="0" bIns="0">
            <a:spAutoFit/>
          </a:bodyPr>
          <a:lstStyle/>
          <a:p>
            <a:pPr algn="ctr"/>
            <a:r>
              <a:rPr sz="1700" b="1" i="0">
                <a:solidFill>
                  <a:srgbClr val="94A3B8"/>
                </a:solidFill>
                <a:latin typeface="Calibri"/>
              </a:rPr>
              <a:t>📋 Traditional</a:t>
            </a:r>
          </a:p>
        </p:txBody>
      </p:sp>
      <p:sp>
        <p:nvSpPr>
          <p:cNvPr id="7" name="Rectangle 6"/>
          <p:cNvSpPr/>
          <p:nvPr/>
        </p:nvSpPr>
        <p:spPr>
          <a:xfrm>
            <a:off x="1463040" y="2441448"/>
            <a:ext cx="3794760" cy="1905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606039"/>
            <a:ext cx="4160520" cy="1005840"/>
          </a:xfrm>
          <a:prstGeom prst="rect">
            <a:avLst/>
          </a:prstGeom>
          <a:noFill/>
        </p:spPr>
        <p:txBody>
          <a:bodyPr wrap="square" anchor="t" lIns="0" rIns="0" tIns="0" bIns="0">
            <a:spAutoFit/>
          </a:bodyPr>
          <a:lstStyle/>
          <a:p>
            <a:pPr algn="ctr">
              <a:spcAft>
                <a:spcPts val="400"/>
              </a:spcAft>
            </a:pPr>
            <a:r>
              <a:rPr sz="1450" b="0" i="0">
                <a:solidFill>
                  <a:srgbClr val="FFFFFF"/>
                </a:solidFill>
                <a:latin typeface="Calibri"/>
              </a:rPr>
              <a:t>Off-chain records</a:t>
            </a:r>
          </a:p>
          <a:p>
            <a:pPr algn="ctr">
              <a:spcAft>
                <a:spcPts val="400"/>
              </a:spcAft>
            </a:pPr>
            <a:r>
              <a:rPr sz="1450" b="0" i="0">
                <a:solidFill>
                  <a:srgbClr val="FFFFFF"/>
                </a:solidFill>
                <a:latin typeface="Calibri"/>
              </a:rPr>
              <a:t>Trust the platform</a:t>
            </a:r>
          </a:p>
          <a:p>
            <a:pPr algn="ctr">
              <a:spcAft>
                <a:spcPts val="400"/>
              </a:spcAft>
            </a:pPr>
            <a:r>
              <a:rPr sz="1450" b="0" i="0">
                <a:solidFill>
                  <a:srgbClr val="FFFFFF"/>
                </a:solidFill>
                <a:latin typeface="Calibri"/>
              </a:rPr>
              <a:t>Opaque calculations</a:t>
            </a:r>
          </a:p>
          <a:p>
            <a:pPr algn="ctr">
              <a:spcAft>
                <a:spcPts val="400"/>
              </a:spcAft>
            </a:pPr>
            <a:r>
              <a:rPr sz="1450" b="0" i="0">
                <a:solidFill>
                  <a:srgbClr val="FFFFFF"/>
                </a:solidFill>
                <a:latin typeface="Calibri"/>
              </a:rPr>
              <a:t>No breakdown</a:t>
            </a:r>
          </a:p>
        </p:txBody>
      </p:sp>
      <p:sp>
        <p:nvSpPr>
          <p:cNvPr id="9" name="Rounded Rectangle 8"/>
          <p:cNvSpPr/>
          <p:nvPr/>
        </p:nvSpPr>
        <p:spPr>
          <a:xfrm>
            <a:off x="6355080" y="1874519"/>
            <a:ext cx="5074920" cy="182880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2011679"/>
            <a:ext cx="5074920" cy="384048"/>
          </a:xfrm>
          <a:prstGeom prst="rect">
            <a:avLst/>
          </a:prstGeom>
          <a:noFill/>
        </p:spPr>
        <p:txBody>
          <a:bodyPr wrap="square" anchor="t" lIns="0" rIns="0" tIns="0" bIns="0">
            <a:spAutoFit/>
          </a:bodyPr>
          <a:lstStyle/>
          <a:p>
            <a:pPr algn="ctr"/>
            <a:r>
              <a:rPr sz="1700" b="1" i="0">
                <a:solidFill>
                  <a:srgbClr val="00D395"/>
                </a:solidFill>
                <a:latin typeface="Calibri"/>
              </a:rPr>
              <a:t>🔍 RangeGuard</a:t>
            </a:r>
          </a:p>
        </p:txBody>
      </p:sp>
      <p:sp>
        <p:nvSpPr>
          <p:cNvPr id="11" name="Rectangle 10"/>
          <p:cNvSpPr/>
          <p:nvPr/>
        </p:nvSpPr>
        <p:spPr>
          <a:xfrm>
            <a:off x="6995160" y="2441448"/>
            <a:ext cx="3794760" cy="19050"/>
          </a:xfrm>
          <a:prstGeom prst="rect">
            <a:avLst/>
          </a:prstGeom>
          <a:solidFill>
            <a:srgbClr val="00D3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2606039"/>
            <a:ext cx="4160520" cy="1005840"/>
          </a:xfrm>
          <a:prstGeom prst="rect">
            <a:avLst/>
          </a:prstGeom>
          <a:noFill/>
        </p:spPr>
        <p:txBody>
          <a:bodyPr wrap="square" anchor="t" lIns="0" rIns="0" tIns="0" bIns="0">
            <a:spAutoFit/>
          </a:bodyPr>
          <a:lstStyle/>
          <a:p>
            <a:pPr algn="ctr">
              <a:spcAft>
                <a:spcPts val="400"/>
              </a:spcAft>
            </a:pPr>
            <a:r>
              <a:rPr sz="1450" b="0" i="0">
                <a:solidFill>
                  <a:srgbClr val="FFFFFF"/>
                </a:solidFill>
                <a:latin typeface="Calibri"/>
              </a:rPr>
              <a:t>Pure on-chain events</a:t>
            </a:r>
          </a:p>
          <a:p>
            <a:pPr algn="ctr">
              <a:spcAft>
                <a:spcPts val="400"/>
              </a:spcAft>
            </a:pPr>
            <a:r>
              <a:rPr sz="1450" b="0" i="0">
                <a:solidFill>
                  <a:srgbClr val="FFFFFF"/>
                </a:solidFill>
                <a:latin typeface="Calibri"/>
              </a:rPr>
              <a:t>Verify yourself</a:t>
            </a:r>
          </a:p>
          <a:p>
            <a:pPr algn="ctr">
              <a:spcAft>
                <a:spcPts val="400"/>
              </a:spcAft>
            </a:pPr>
            <a:r>
              <a:rPr sz="1450" b="0" i="0">
                <a:solidFill>
                  <a:srgbClr val="FFFFFF"/>
                </a:solidFill>
                <a:latin typeface="Calibri"/>
              </a:rPr>
              <a:t>Every row auditable</a:t>
            </a:r>
          </a:p>
          <a:p>
            <a:pPr algn="ctr">
              <a:spcAft>
                <a:spcPts val="400"/>
              </a:spcAft>
            </a:pPr>
            <a:r>
              <a:rPr sz="1450" b="0" i="0">
                <a:solidFill>
                  <a:srgbClr val="FFFFFF"/>
                </a:solidFill>
                <a:latin typeface="Calibri"/>
              </a:rPr>
              <a:t>LimitingFactor shown</a:t>
            </a:r>
          </a:p>
        </p:txBody>
      </p:sp>
      <p:sp>
        <p:nvSpPr>
          <p:cNvPr id="13" name="Rounded Rectangle 12"/>
          <p:cNvSpPr/>
          <p:nvPr/>
        </p:nvSpPr>
        <p:spPr>
          <a:xfrm>
            <a:off x="822960" y="3886200"/>
            <a:ext cx="10543032" cy="1874519"/>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995928"/>
            <a:ext cx="3657600" cy="283464"/>
          </a:xfrm>
          <a:prstGeom prst="rect">
            <a:avLst/>
          </a:prstGeom>
          <a:noFill/>
        </p:spPr>
        <p:txBody>
          <a:bodyPr wrap="square" anchor="ctr" lIns="0" rIns="0" tIns="0" bIns="0">
            <a:spAutoFit/>
          </a:bodyPr>
          <a:lstStyle/>
          <a:p>
            <a:pPr algn="l"/>
            <a:r>
              <a:rPr sz="1350" b="1" i="0">
                <a:solidFill>
                  <a:srgbClr val="00D395"/>
                </a:solidFill>
                <a:latin typeface="Consolas"/>
              </a:rPr>
              <a:t>Event</a:t>
            </a:r>
          </a:p>
        </p:txBody>
      </p:sp>
      <p:sp>
        <p:nvSpPr>
          <p:cNvPr id="15" name="TextBox 14"/>
          <p:cNvSpPr txBox="1"/>
          <p:nvPr/>
        </p:nvSpPr>
        <p:spPr>
          <a:xfrm>
            <a:off x="4572000" y="3995928"/>
            <a:ext cx="365760" cy="283464"/>
          </a:xfrm>
          <a:prstGeom prst="rect">
            <a:avLst/>
          </a:prstGeom>
          <a:noFill/>
        </p:spPr>
        <p:txBody>
          <a:bodyPr wrap="square" anchor="ctr" lIns="0" rIns="0" tIns="0" bIns="0">
            <a:spAutoFit/>
          </a:bodyPr>
          <a:lstStyle/>
          <a:p>
            <a:pPr algn="l"/>
            <a:r>
              <a:rPr sz="1300" b="1" i="0">
                <a:solidFill>
                  <a:srgbClr val="00D395"/>
                </a:solidFill>
                <a:latin typeface="Calibri"/>
              </a:rPr>
              <a:t>→</a:t>
            </a:r>
          </a:p>
        </p:txBody>
      </p:sp>
      <p:sp>
        <p:nvSpPr>
          <p:cNvPr id="16" name="TextBox 15"/>
          <p:cNvSpPr txBox="1"/>
          <p:nvPr/>
        </p:nvSpPr>
        <p:spPr>
          <a:xfrm>
            <a:off x="5029200" y="3995928"/>
            <a:ext cx="6126480" cy="283464"/>
          </a:xfrm>
          <a:prstGeom prst="rect">
            <a:avLst/>
          </a:prstGeom>
          <a:noFill/>
        </p:spPr>
        <p:txBody>
          <a:bodyPr wrap="square" anchor="ctr" lIns="0" rIns="0" tIns="0" bIns="0">
            <a:spAutoFit/>
          </a:bodyPr>
          <a:lstStyle/>
          <a:p>
            <a:pPr algn="l"/>
            <a:r>
              <a:rPr sz="1350" b="1" i="0">
                <a:solidFill>
                  <a:srgbClr val="00D395"/>
                </a:solidFill>
                <a:latin typeface="Calibri"/>
              </a:rPr>
              <a:t>Coverage Report Row</a:t>
            </a:r>
          </a:p>
        </p:txBody>
      </p:sp>
      <p:sp>
        <p:nvSpPr>
          <p:cNvPr id="17" name="Rectangle 16"/>
          <p:cNvSpPr/>
          <p:nvPr/>
        </p:nvSpPr>
        <p:spPr>
          <a:xfrm>
            <a:off x="1097280" y="4279392"/>
            <a:ext cx="10058400" cy="1270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279392"/>
            <a:ext cx="3657600" cy="283464"/>
          </a:xfrm>
          <a:prstGeom prst="rect">
            <a:avLst/>
          </a:prstGeom>
          <a:noFill/>
        </p:spPr>
        <p:txBody>
          <a:bodyPr wrap="square" anchor="ctr" lIns="0" rIns="0" tIns="0" bIns="0">
            <a:spAutoFit/>
          </a:bodyPr>
          <a:lstStyle/>
          <a:p>
            <a:pPr algn="l"/>
            <a:r>
              <a:rPr sz="1350" b="0" i="0">
                <a:solidFill>
                  <a:srgbClr val="FFFFFF"/>
                </a:solidFill>
                <a:latin typeface="Consolas"/>
              </a:rPr>
              <a:t>PositionRegistered</a:t>
            </a:r>
          </a:p>
        </p:txBody>
      </p:sp>
      <p:sp>
        <p:nvSpPr>
          <p:cNvPr id="19" name="TextBox 18"/>
          <p:cNvSpPr txBox="1"/>
          <p:nvPr/>
        </p:nvSpPr>
        <p:spPr>
          <a:xfrm>
            <a:off x="4572000" y="4279392"/>
            <a:ext cx="365760" cy="283464"/>
          </a:xfrm>
          <a:prstGeom prst="rect">
            <a:avLst/>
          </a:prstGeom>
          <a:noFill/>
        </p:spPr>
        <p:txBody>
          <a:bodyPr wrap="square" anchor="ctr" lIns="0" rIns="0" tIns="0" bIns="0">
            <a:spAutoFit/>
          </a:bodyPr>
          <a:lstStyle/>
          <a:p>
            <a:pPr algn="l"/>
            <a:r>
              <a:rPr sz="1300" b="1" i="0">
                <a:solidFill>
                  <a:srgbClr val="00D395"/>
                </a:solidFill>
                <a:latin typeface="Calibri"/>
              </a:rPr>
              <a:t>→</a:t>
            </a:r>
          </a:p>
        </p:txBody>
      </p:sp>
      <p:sp>
        <p:nvSpPr>
          <p:cNvPr id="20" name="TextBox 19"/>
          <p:cNvSpPr txBox="1"/>
          <p:nvPr/>
        </p:nvSpPr>
        <p:spPr>
          <a:xfrm>
            <a:off x="5029200" y="4279392"/>
            <a:ext cx="6126480" cy="283464"/>
          </a:xfrm>
          <a:prstGeom prst="rect">
            <a:avLst/>
          </a:prstGeom>
          <a:noFill/>
        </p:spPr>
        <p:txBody>
          <a:bodyPr wrap="square" anchor="ctr" lIns="0" rIns="0" tIns="0" bIns="0">
            <a:spAutoFit/>
          </a:bodyPr>
          <a:lstStyle/>
          <a:p>
            <a:pPr algn="l"/>
            <a:r>
              <a:rPr sz="1350" b="0" i="0">
                <a:solidFill>
                  <a:srgbClr val="FFFFFF"/>
                </a:solidFill>
                <a:latin typeface="Calibri"/>
              </a:rPr>
              <a:t>Entry snapshot (notional, APR, day-count basis)</a:t>
            </a:r>
          </a:p>
        </p:txBody>
      </p:sp>
      <p:sp>
        <p:nvSpPr>
          <p:cNvPr id="21" name="TextBox 20"/>
          <p:cNvSpPr txBox="1"/>
          <p:nvPr/>
        </p:nvSpPr>
        <p:spPr>
          <a:xfrm>
            <a:off x="1097280" y="4562856"/>
            <a:ext cx="3657600" cy="283464"/>
          </a:xfrm>
          <a:prstGeom prst="rect">
            <a:avLst/>
          </a:prstGeom>
          <a:noFill/>
        </p:spPr>
        <p:txBody>
          <a:bodyPr wrap="square" anchor="ctr" lIns="0" rIns="0" tIns="0" bIns="0">
            <a:spAutoFit/>
          </a:bodyPr>
          <a:lstStyle/>
          <a:p>
            <a:pPr algn="l"/>
            <a:r>
              <a:rPr sz="1350" b="0" i="0">
                <a:solidFill>
                  <a:srgbClr val="FFFFFF"/>
                </a:solidFill>
                <a:latin typeface="Consolas"/>
              </a:rPr>
              <a:t>AccrualUpdated</a:t>
            </a:r>
          </a:p>
        </p:txBody>
      </p:sp>
      <p:sp>
        <p:nvSpPr>
          <p:cNvPr id="22" name="TextBox 21"/>
          <p:cNvSpPr txBox="1"/>
          <p:nvPr/>
        </p:nvSpPr>
        <p:spPr>
          <a:xfrm>
            <a:off x="4572000" y="4562856"/>
            <a:ext cx="365760" cy="283464"/>
          </a:xfrm>
          <a:prstGeom prst="rect">
            <a:avLst/>
          </a:prstGeom>
          <a:noFill/>
        </p:spPr>
        <p:txBody>
          <a:bodyPr wrap="square" anchor="ctr" lIns="0" rIns="0" tIns="0" bIns="0">
            <a:spAutoFit/>
          </a:bodyPr>
          <a:lstStyle/>
          <a:p>
            <a:pPr algn="l"/>
            <a:r>
              <a:rPr sz="1300" b="1" i="0">
                <a:solidFill>
                  <a:srgbClr val="00D395"/>
                </a:solidFill>
                <a:latin typeface="Calibri"/>
              </a:rPr>
              <a:t>→</a:t>
            </a:r>
          </a:p>
        </p:txBody>
      </p:sp>
      <p:sp>
        <p:nvSpPr>
          <p:cNvPr id="23" name="TextBox 22"/>
          <p:cNvSpPr txBox="1"/>
          <p:nvPr/>
        </p:nvSpPr>
        <p:spPr>
          <a:xfrm>
            <a:off x="5029200" y="4562856"/>
            <a:ext cx="6126480" cy="283464"/>
          </a:xfrm>
          <a:prstGeom prst="rect">
            <a:avLst/>
          </a:prstGeom>
          <a:noFill/>
        </p:spPr>
        <p:txBody>
          <a:bodyPr wrap="square" anchor="ctr" lIns="0" rIns="0" tIns="0" bIns="0">
            <a:spAutoFit/>
          </a:bodyPr>
          <a:lstStyle/>
          <a:p>
            <a:pPr algn="l"/>
            <a:r>
              <a:rPr sz="1350" b="0" i="0">
                <a:solidFill>
                  <a:srgbClr val="FFFFFF"/>
                </a:solidFill>
                <a:latin typeface="Calibri"/>
              </a:rPr>
              <a:t>Each accrual period (dt, delta, isInRange)</a:t>
            </a:r>
          </a:p>
        </p:txBody>
      </p:sp>
      <p:sp>
        <p:nvSpPr>
          <p:cNvPr id="24" name="TextBox 23"/>
          <p:cNvSpPr txBox="1"/>
          <p:nvPr/>
        </p:nvSpPr>
        <p:spPr>
          <a:xfrm>
            <a:off x="1097280" y="4846320"/>
            <a:ext cx="3657600" cy="283464"/>
          </a:xfrm>
          <a:prstGeom prst="rect">
            <a:avLst/>
          </a:prstGeom>
          <a:noFill/>
        </p:spPr>
        <p:txBody>
          <a:bodyPr wrap="square" anchor="ctr" lIns="0" rIns="0" tIns="0" bIns="0">
            <a:spAutoFit/>
          </a:bodyPr>
          <a:lstStyle/>
          <a:p>
            <a:pPr algn="l"/>
            <a:r>
              <a:rPr sz="1350" b="0" i="0">
                <a:solidFill>
                  <a:srgbClr val="FFFFFF"/>
                </a:solidFill>
                <a:latin typeface="Consolas"/>
              </a:rPr>
              <a:t>PositionOutOfRange</a:t>
            </a:r>
          </a:p>
        </p:txBody>
      </p:sp>
      <p:sp>
        <p:nvSpPr>
          <p:cNvPr id="25" name="TextBox 24"/>
          <p:cNvSpPr txBox="1"/>
          <p:nvPr/>
        </p:nvSpPr>
        <p:spPr>
          <a:xfrm>
            <a:off x="4572000" y="4846320"/>
            <a:ext cx="365760" cy="283464"/>
          </a:xfrm>
          <a:prstGeom prst="rect">
            <a:avLst/>
          </a:prstGeom>
          <a:noFill/>
        </p:spPr>
        <p:txBody>
          <a:bodyPr wrap="square" anchor="ctr" lIns="0" rIns="0" tIns="0" bIns="0">
            <a:spAutoFit/>
          </a:bodyPr>
          <a:lstStyle/>
          <a:p>
            <a:pPr algn="l"/>
            <a:r>
              <a:rPr sz="1300" b="1" i="0">
                <a:solidFill>
                  <a:srgbClr val="00D395"/>
                </a:solidFill>
                <a:latin typeface="Calibri"/>
              </a:rPr>
              <a:t>→</a:t>
            </a:r>
          </a:p>
        </p:txBody>
      </p:sp>
      <p:sp>
        <p:nvSpPr>
          <p:cNvPr id="26" name="TextBox 25"/>
          <p:cNvSpPr txBox="1"/>
          <p:nvPr/>
        </p:nvSpPr>
        <p:spPr>
          <a:xfrm>
            <a:off x="5029200" y="4846320"/>
            <a:ext cx="6126480" cy="283464"/>
          </a:xfrm>
          <a:prstGeom prst="rect">
            <a:avLst/>
          </a:prstGeom>
          <a:noFill/>
        </p:spPr>
        <p:txBody>
          <a:bodyPr wrap="square" anchor="ctr" lIns="0" rIns="0" tIns="0" bIns="0">
            <a:spAutoFit/>
          </a:bodyPr>
          <a:lstStyle/>
          <a:p>
            <a:pPr algn="l"/>
            <a:r>
              <a:rPr sz="1350" b="0" i="0">
                <a:solidFill>
                  <a:srgbClr val="FFFFFF"/>
                </a:solidFill>
                <a:latin typeface="Calibri"/>
              </a:rPr>
              <a:t>Coverage paused (Reactive Network detected)</a:t>
            </a:r>
          </a:p>
        </p:txBody>
      </p:sp>
      <p:sp>
        <p:nvSpPr>
          <p:cNvPr id="27" name="TextBox 26"/>
          <p:cNvSpPr txBox="1"/>
          <p:nvPr/>
        </p:nvSpPr>
        <p:spPr>
          <a:xfrm>
            <a:off x="1097280" y="5129784"/>
            <a:ext cx="3657600" cy="283464"/>
          </a:xfrm>
          <a:prstGeom prst="rect">
            <a:avLst/>
          </a:prstGeom>
          <a:noFill/>
        </p:spPr>
        <p:txBody>
          <a:bodyPr wrap="square" anchor="ctr" lIns="0" rIns="0" tIns="0" bIns="0">
            <a:spAutoFit/>
          </a:bodyPr>
          <a:lstStyle/>
          <a:p>
            <a:pPr algn="l"/>
            <a:r>
              <a:rPr sz="1350" b="0" i="0">
                <a:solidFill>
                  <a:srgbClr val="FFFFFF"/>
                </a:solidFill>
                <a:latin typeface="Consolas"/>
              </a:rPr>
              <a:t>PositionBackInRange</a:t>
            </a:r>
          </a:p>
        </p:txBody>
      </p:sp>
      <p:sp>
        <p:nvSpPr>
          <p:cNvPr id="28" name="TextBox 27"/>
          <p:cNvSpPr txBox="1"/>
          <p:nvPr/>
        </p:nvSpPr>
        <p:spPr>
          <a:xfrm>
            <a:off x="4572000" y="5129784"/>
            <a:ext cx="365760" cy="283464"/>
          </a:xfrm>
          <a:prstGeom prst="rect">
            <a:avLst/>
          </a:prstGeom>
          <a:noFill/>
        </p:spPr>
        <p:txBody>
          <a:bodyPr wrap="square" anchor="ctr" lIns="0" rIns="0" tIns="0" bIns="0">
            <a:spAutoFit/>
          </a:bodyPr>
          <a:lstStyle/>
          <a:p>
            <a:pPr algn="l"/>
            <a:r>
              <a:rPr sz="1300" b="1" i="0">
                <a:solidFill>
                  <a:srgbClr val="00D395"/>
                </a:solidFill>
                <a:latin typeface="Calibri"/>
              </a:rPr>
              <a:t>→</a:t>
            </a:r>
          </a:p>
        </p:txBody>
      </p:sp>
      <p:sp>
        <p:nvSpPr>
          <p:cNvPr id="29" name="TextBox 28"/>
          <p:cNvSpPr txBox="1"/>
          <p:nvPr/>
        </p:nvSpPr>
        <p:spPr>
          <a:xfrm>
            <a:off x="5029200" y="5129784"/>
            <a:ext cx="6126480" cy="283464"/>
          </a:xfrm>
          <a:prstGeom prst="rect">
            <a:avLst/>
          </a:prstGeom>
          <a:noFill/>
        </p:spPr>
        <p:txBody>
          <a:bodyPr wrap="square" anchor="ctr" lIns="0" rIns="0" tIns="0" bIns="0">
            <a:spAutoFit/>
          </a:bodyPr>
          <a:lstStyle/>
          <a:p>
            <a:pPr algn="l"/>
            <a:r>
              <a:rPr sz="1350" b="0" i="0">
                <a:solidFill>
                  <a:srgbClr val="FFFFFF"/>
                </a:solidFill>
                <a:latin typeface="Calibri"/>
              </a:rPr>
              <a:t>Coverage resumed (Reactive Network detected)</a:t>
            </a:r>
          </a:p>
        </p:txBody>
      </p:sp>
      <p:sp>
        <p:nvSpPr>
          <p:cNvPr id="30" name="TextBox 29"/>
          <p:cNvSpPr txBox="1"/>
          <p:nvPr/>
        </p:nvSpPr>
        <p:spPr>
          <a:xfrm>
            <a:off x="1097280" y="5413248"/>
            <a:ext cx="3657600" cy="283464"/>
          </a:xfrm>
          <a:prstGeom prst="rect">
            <a:avLst/>
          </a:prstGeom>
          <a:noFill/>
        </p:spPr>
        <p:txBody>
          <a:bodyPr wrap="square" anchor="ctr" lIns="0" rIns="0" tIns="0" bIns="0">
            <a:spAutoFit/>
          </a:bodyPr>
          <a:lstStyle/>
          <a:p>
            <a:pPr algn="l"/>
            <a:r>
              <a:rPr sz="1350" b="0" i="0">
                <a:solidFill>
                  <a:srgbClr val="FFFFFF"/>
                </a:solidFill>
                <a:latin typeface="Consolas"/>
              </a:rPr>
              <a:t>ClaimSettled</a:t>
            </a:r>
          </a:p>
        </p:txBody>
      </p:sp>
      <p:sp>
        <p:nvSpPr>
          <p:cNvPr id="31" name="TextBox 30"/>
          <p:cNvSpPr txBox="1"/>
          <p:nvPr/>
        </p:nvSpPr>
        <p:spPr>
          <a:xfrm>
            <a:off x="4572000" y="5413248"/>
            <a:ext cx="365760" cy="283464"/>
          </a:xfrm>
          <a:prstGeom prst="rect">
            <a:avLst/>
          </a:prstGeom>
          <a:noFill/>
        </p:spPr>
        <p:txBody>
          <a:bodyPr wrap="square" anchor="ctr" lIns="0" rIns="0" tIns="0" bIns="0">
            <a:spAutoFit/>
          </a:bodyPr>
          <a:lstStyle/>
          <a:p>
            <a:pPr algn="l"/>
            <a:r>
              <a:rPr sz="1300" b="1" i="0">
                <a:solidFill>
                  <a:srgbClr val="00D395"/>
                </a:solidFill>
                <a:latin typeface="Calibri"/>
              </a:rPr>
              <a:t>→</a:t>
            </a:r>
          </a:p>
        </p:txBody>
      </p:sp>
      <p:sp>
        <p:nvSpPr>
          <p:cNvPr id="32" name="TextBox 31"/>
          <p:cNvSpPr txBox="1"/>
          <p:nvPr/>
        </p:nvSpPr>
        <p:spPr>
          <a:xfrm>
            <a:off x="5029200" y="5413248"/>
            <a:ext cx="6126480" cy="283464"/>
          </a:xfrm>
          <a:prstGeom prst="rect">
            <a:avLst/>
          </a:prstGeom>
          <a:noFill/>
        </p:spPr>
        <p:txBody>
          <a:bodyPr wrap="square" anchor="ctr" lIns="0" rIns="0" tIns="0" bIns="0">
            <a:spAutoFit/>
          </a:bodyPr>
          <a:lstStyle/>
          <a:p>
            <a:pPr algn="l"/>
            <a:r>
              <a:rPr sz="1350" b="0" i="0">
                <a:solidFill>
                  <a:srgbClr val="FFFFFF"/>
                </a:solidFill>
                <a:latin typeface="Calibri"/>
              </a:rPr>
              <a:t>Final settlement (IL, payout, limitingFactor)</a:t>
            </a:r>
          </a:p>
        </p:txBody>
      </p:sp>
      <p:sp>
        <p:nvSpPr>
          <p:cNvPr id="33" name="TextBox 32"/>
          <p:cNvSpPr txBox="1"/>
          <p:nvPr/>
        </p:nvSpPr>
        <p:spPr>
          <a:xfrm>
            <a:off x="914400" y="5943600"/>
            <a:ext cx="10360152" cy="731520"/>
          </a:xfrm>
          <a:prstGeom prst="rect">
            <a:avLst/>
          </a:prstGeom>
          <a:noFill/>
        </p:spPr>
        <p:txBody>
          <a:bodyPr wrap="square" anchor="ctr" lIns="0" rIns="0" tIns="0" bIns="0">
            <a:spAutoFit/>
          </a:bodyPr>
          <a:lstStyle/>
          <a:p>
            <a:pPr algn="ctr">
              <a:spcAft>
                <a:spcPts val="100"/>
              </a:spcAft>
            </a:pPr>
            <a:r>
              <a:rPr sz="1500" b="1" i="0">
                <a:solidFill>
                  <a:srgbClr val="00D395"/>
                </a:solidFill>
                <a:latin typeface="Calibri"/>
              </a:rPr>
              <a:t>No off-chain assumptions. Fully verifiable.</a:t>
            </a:r>
          </a:p>
          <a:p>
            <a:pPr algn="ctr"/>
            <a:r>
              <a:rPr sz="1500" b="1" i="0">
                <a:solidFill>
                  <a:srgbClr val="00D395"/>
                </a:solidFill>
                <a:latin typeface="Calibri"/>
              </a:rPr>
              <a:t>Built on Reactive Network cross-chain automation.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457200"/>
            <a:ext cx="10360152" cy="640080"/>
          </a:xfrm>
          <a:prstGeom prst="rect">
            <a:avLst/>
          </a:prstGeom>
          <a:noFill/>
        </p:spPr>
        <p:txBody>
          <a:bodyPr wrap="square" anchor="t" lIns="0" rIns="0" tIns="0" bIns="0">
            <a:spAutoFit/>
          </a:bodyPr>
          <a:lstStyle/>
          <a:p>
            <a:pPr algn="ctr"/>
            <a:r>
              <a:rPr sz="2800" b="1" i="1">
                <a:solidFill>
                  <a:srgbClr val="00D395"/>
                </a:solidFill>
                <a:latin typeface="Calibri"/>
              </a:rPr>
              <a:t>“Protect your liquidity. Guard your range.”</a:t>
            </a:r>
          </a:p>
        </p:txBody>
      </p:sp>
      <p:sp>
        <p:nvSpPr>
          <p:cNvPr id="4" name="TextBox 3"/>
          <p:cNvSpPr txBox="1"/>
          <p:nvPr/>
        </p:nvSpPr>
        <p:spPr>
          <a:xfrm>
            <a:off x="1371600" y="1325880"/>
            <a:ext cx="9418320" cy="1554480"/>
          </a:xfrm>
          <a:prstGeom prst="rect">
            <a:avLst/>
          </a:prstGeom>
          <a:noFill/>
        </p:spPr>
        <p:txBody>
          <a:bodyPr wrap="square" anchor="t" lIns="0" rIns="0" tIns="0" bIns="0">
            <a:spAutoFit/>
          </a:bodyPr>
          <a:lstStyle/>
          <a:p>
            <a:pPr algn="l">
              <a:spcAft>
                <a:spcPts val="600"/>
              </a:spcAft>
            </a:pPr>
            <a:r>
              <a:rPr sz="1700" b="0" i="0">
                <a:solidFill>
                  <a:srgbClr val="FFFFFF"/>
                </a:solidFill>
                <a:latin typeface="Calibri"/>
              </a:rPr>
              <a:t>✓  Native IL coverage — built into the pool, not bolted on</a:t>
            </a:r>
          </a:p>
          <a:p>
            <a:pPr algn="l">
              <a:spcAft>
                <a:spcPts val="600"/>
              </a:spcAft>
            </a:pPr>
            <a:r>
              <a:rPr sz="1700" b="0" i="0">
                <a:solidFill>
                  <a:srgbClr val="FFFFFF"/>
                </a:solidFill>
                <a:latin typeface="Calibri"/>
              </a:rPr>
              <a:t>✓  Self-funding buffer — swap fees cover the claims</a:t>
            </a:r>
          </a:p>
          <a:p>
            <a:pPr algn="l">
              <a:spcAft>
                <a:spcPts val="600"/>
              </a:spcAft>
            </a:pPr>
            <a:r>
              <a:rPr sz="1700" b="0" i="0">
                <a:solidFill>
                  <a:srgbClr val="FFFFFF"/>
                </a:solidFill>
                <a:latin typeface="Calibri"/>
              </a:rPr>
              <a:t>✓  Capped payouts — actuarially sound, buffer protected</a:t>
            </a:r>
          </a:p>
          <a:p>
            <a:pPr algn="l">
              <a:spcAft>
                <a:spcPts val="600"/>
              </a:spcAft>
            </a:pPr>
            <a:r>
              <a:rPr sz="1700" b="0" i="0">
                <a:solidFill>
                  <a:srgbClr val="FFFFFF"/>
                </a:solidFill>
                <a:latin typeface="Calibri"/>
              </a:rPr>
              <a:t>✓  Fully auditable — every accrual verifiable on-chain</a:t>
            </a:r>
          </a:p>
        </p:txBody>
      </p:sp>
      <p:sp>
        <p:nvSpPr>
          <p:cNvPr id="5" name="Rounded Rectangle 4"/>
          <p:cNvSpPr/>
          <p:nvPr/>
        </p:nvSpPr>
        <p:spPr>
          <a:xfrm>
            <a:off x="1371600" y="3063240"/>
            <a:ext cx="9445752" cy="1691640"/>
          </a:xfrm>
          <a:prstGeom prst="roundRect">
            <a:avLst>
              <a:gd name="adj" fmla="val 8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91640" y="3191256"/>
            <a:ext cx="3108960" cy="384048"/>
          </a:xfrm>
          <a:prstGeom prst="rect">
            <a:avLst/>
          </a:prstGeom>
          <a:noFill/>
        </p:spPr>
        <p:txBody>
          <a:bodyPr wrap="square" anchor="ctr" lIns="0" rIns="0" tIns="0" bIns="0">
            <a:spAutoFit/>
          </a:bodyPr>
          <a:lstStyle/>
          <a:p>
            <a:pPr algn="l"/>
            <a:r>
              <a:rPr sz="1450" b="1" i="0">
                <a:solidFill>
                  <a:srgbClr val="00D395"/>
                </a:solidFill>
                <a:latin typeface="Calibri"/>
              </a:rPr>
              <a:t>Who Benefits</a:t>
            </a:r>
          </a:p>
        </p:txBody>
      </p:sp>
      <p:sp>
        <p:nvSpPr>
          <p:cNvPr id="7" name="TextBox 6"/>
          <p:cNvSpPr txBox="1"/>
          <p:nvPr/>
        </p:nvSpPr>
        <p:spPr>
          <a:xfrm>
            <a:off x="4846320" y="3191256"/>
            <a:ext cx="5760720" cy="384048"/>
          </a:xfrm>
          <a:prstGeom prst="rect">
            <a:avLst/>
          </a:prstGeom>
          <a:noFill/>
        </p:spPr>
        <p:txBody>
          <a:bodyPr wrap="square" anchor="ctr" lIns="0" rIns="0" tIns="0" bIns="0">
            <a:spAutoFit/>
          </a:bodyPr>
          <a:lstStyle/>
          <a:p>
            <a:pPr algn="l"/>
            <a:r>
              <a:rPr sz="1400" b="0" i="0">
                <a:solidFill>
                  <a:srgbClr val="94A3B8"/>
                </a:solidFill>
                <a:latin typeface="Calibri"/>
              </a:rPr>
              <a:t>Why It Matters</a:t>
            </a:r>
          </a:p>
        </p:txBody>
      </p:sp>
      <p:sp>
        <p:nvSpPr>
          <p:cNvPr id="8" name="Rectangle 7"/>
          <p:cNvSpPr/>
          <p:nvPr/>
        </p:nvSpPr>
        <p:spPr>
          <a:xfrm>
            <a:off x="1691640" y="3557016"/>
            <a:ext cx="8778240" cy="1270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3575304"/>
            <a:ext cx="3108960" cy="384048"/>
          </a:xfrm>
          <a:prstGeom prst="rect">
            <a:avLst/>
          </a:prstGeom>
          <a:noFill/>
        </p:spPr>
        <p:txBody>
          <a:bodyPr wrap="square" anchor="ctr" lIns="0" rIns="0" tIns="0" bIns="0">
            <a:spAutoFit/>
          </a:bodyPr>
          <a:lstStyle/>
          <a:p>
            <a:pPr algn="l"/>
            <a:r>
              <a:rPr sz="1450" b="1" i="0">
                <a:solidFill>
                  <a:srgbClr val="FFFFFF"/>
                </a:solidFill>
                <a:latin typeface="Calibri"/>
              </a:rPr>
              <a:t>Passive LPs</a:t>
            </a:r>
          </a:p>
        </p:txBody>
      </p:sp>
      <p:sp>
        <p:nvSpPr>
          <p:cNvPr id="10" name="TextBox 9"/>
          <p:cNvSpPr txBox="1"/>
          <p:nvPr/>
        </p:nvSpPr>
        <p:spPr>
          <a:xfrm>
            <a:off x="4846320" y="3575304"/>
            <a:ext cx="5760720" cy="384048"/>
          </a:xfrm>
          <a:prstGeom prst="rect">
            <a:avLst/>
          </a:prstGeom>
          <a:noFill/>
        </p:spPr>
        <p:txBody>
          <a:bodyPr wrap="square" anchor="ctr" lIns="0" rIns="0" tIns="0" bIns="0">
            <a:spAutoFit/>
          </a:bodyPr>
          <a:lstStyle/>
          <a:p>
            <a:pPr algn="l"/>
            <a:r>
              <a:rPr sz="1400" b="0" i="0">
                <a:solidFill>
                  <a:srgbClr val="94A3B8"/>
                </a:solidFill>
                <a:latin typeface="Calibri"/>
              </a:rPr>
              <a:t>Downside protection without complex hedging</a:t>
            </a:r>
          </a:p>
        </p:txBody>
      </p:sp>
      <p:sp>
        <p:nvSpPr>
          <p:cNvPr id="11" name="TextBox 10"/>
          <p:cNvSpPr txBox="1"/>
          <p:nvPr/>
        </p:nvSpPr>
        <p:spPr>
          <a:xfrm>
            <a:off x="1691640" y="3959352"/>
            <a:ext cx="3108960" cy="384048"/>
          </a:xfrm>
          <a:prstGeom prst="rect">
            <a:avLst/>
          </a:prstGeom>
          <a:noFill/>
        </p:spPr>
        <p:txBody>
          <a:bodyPr wrap="square" anchor="ctr" lIns="0" rIns="0" tIns="0" bIns="0">
            <a:spAutoFit/>
          </a:bodyPr>
          <a:lstStyle/>
          <a:p>
            <a:pPr algn="l"/>
            <a:r>
              <a:rPr sz="1450" b="1" i="0">
                <a:solidFill>
                  <a:srgbClr val="FFFFFF"/>
                </a:solidFill>
                <a:latin typeface="Calibri"/>
              </a:rPr>
              <a:t>Protocols / DAOs</a:t>
            </a:r>
          </a:p>
        </p:txBody>
      </p:sp>
      <p:sp>
        <p:nvSpPr>
          <p:cNvPr id="12" name="TextBox 11"/>
          <p:cNvSpPr txBox="1"/>
          <p:nvPr/>
        </p:nvSpPr>
        <p:spPr>
          <a:xfrm>
            <a:off x="4846320" y="3959352"/>
            <a:ext cx="5760720" cy="384048"/>
          </a:xfrm>
          <a:prstGeom prst="rect">
            <a:avLst/>
          </a:prstGeom>
          <a:noFill/>
        </p:spPr>
        <p:txBody>
          <a:bodyPr wrap="square" anchor="ctr" lIns="0" rIns="0" tIns="0" bIns="0">
            <a:spAutoFit/>
          </a:bodyPr>
          <a:lstStyle/>
          <a:p>
            <a:pPr algn="l"/>
            <a:r>
              <a:rPr sz="1400" b="0" i="0">
                <a:solidFill>
                  <a:srgbClr val="94A3B8"/>
                </a:solidFill>
                <a:latin typeface="Calibri"/>
              </a:rPr>
              <a:t>Deeper liquidity without reliance on emissions</a:t>
            </a:r>
          </a:p>
        </p:txBody>
      </p:sp>
      <p:sp>
        <p:nvSpPr>
          <p:cNvPr id="13" name="TextBox 12"/>
          <p:cNvSpPr txBox="1"/>
          <p:nvPr/>
        </p:nvSpPr>
        <p:spPr>
          <a:xfrm>
            <a:off x="1691640" y="4343400"/>
            <a:ext cx="3108960" cy="384048"/>
          </a:xfrm>
          <a:prstGeom prst="rect">
            <a:avLst/>
          </a:prstGeom>
          <a:noFill/>
        </p:spPr>
        <p:txBody>
          <a:bodyPr wrap="square" anchor="ctr" lIns="0" rIns="0" tIns="0" bIns="0">
            <a:spAutoFit/>
          </a:bodyPr>
          <a:lstStyle/>
          <a:p>
            <a:pPr algn="l"/>
            <a:r>
              <a:rPr sz="1450" b="1" i="0">
                <a:solidFill>
                  <a:srgbClr val="FFFFFF"/>
                </a:solidFill>
                <a:latin typeface="Calibri"/>
              </a:rPr>
              <a:t>Uniswap Ecosystem</a:t>
            </a:r>
          </a:p>
        </p:txBody>
      </p:sp>
      <p:sp>
        <p:nvSpPr>
          <p:cNvPr id="14" name="TextBox 13"/>
          <p:cNvSpPr txBox="1"/>
          <p:nvPr/>
        </p:nvSpPr>
        <p:spPr>
          <a:xfrm>
            <a:off x="4846320" y="4343400"/>
            <a:ext cx="5760720" cy="384048"/>
          </a:xfrm>
          <a:prstGeom prst="rect">
            <a:avLst/>
          </a:prstGeom>
          <a:noFill/>
        </p:spPr>
        <p:txBody>
          <a:bodyPr wrap="square" anchor="ctr" lIns="0" rIns="0" tIns="0" bIns="0">
            <a:spAutoFit/>
          </a:bodyPr>
          <a:lstStyle/>
          <a:p>
            <a:pPr algn="l"/>
            <a:r>
              <a:rPr sz="1400" b="0" i="0">
                <a:solidFill>
                  <a:srgbClr val="94A3B8"/>
                </a:solidFill>
                <a:latin typeface="Calibri"/>
              </a:rPr>
              <a:t>Durable liquidity, tighter spreads, better execution</a:t>
            </a:r>
          </a:p>
        </p:txBody>
      </p:sp>
      <p:sp>
        <p:nvSpPr>
          <p:cNvPr id="15" name="TextBox 14"/>
          <p:cNvSpPr txBox="1"/>
          <p:nvPr/>
        </p:nvSpPr>
        <p:spPr>
          <a:xfrm>
            <a:off x="914400" y="4937760"/>
            <a:ext cx="10360152" cy="457200"/>
          </a:xfrm>
          <a:prstGeom prst="rect">
            <a:avLst/>
          </a:prstGeom>
          <a:noFill/>
        </p:spPr>
        <p:txBody>
          <a:bodyPr wrap="square" anchor="ctr" lIns="0" rIns="0" tIns="0" bIns="0">
            <a:spAutoFit/>
          </a:bodyPr>
          <a:lstStyle/>
          <a:p>
            <a:pPr algn="ctr"/>
            <a:r>
              <a:rPr sz="2000" b="1" i="0">
                <a:solidFill>
                  <a:srgbClr val="00D395"/>
                </a:solidFill>
                <a:latin typeface="Calibri"/>
              </a:rPr>
              <a:t>Earned over time. Funded by swaps. Settled on-chain.</a:t>
            </a:r>
          </a:p>
        </p:txBody>
      </p:sp>
      <p:sp>
        <p:nvSpPr>
          <p:cNvPr id="16" name="Rectangle 15"/>
          <p:cNvSpPr/>
          <p:nvPr/>
        </p:nvSpPr>
        <p:spPr>
          <a:xfrm>
            <a:off x="4265676" y="5486400"/>
            <a:ext cx="3657600" cy="1270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623560"/>
            <a:ext cx="10360152" cy="457200"/>
          </a:xfrm>
          <a:prstGeom prst="rect">
            <a:avLst/>
          </a:prstGeom>
          <a:noFill/>
        </p:spPr>
        <p:txBody>
          <a:bodyPr wrap="square" anchor="ctr" lIns="0" rIns="0" tIns="0" bIns="0">
            <a:spAutoFit/>
          </a:bodyPr>
          <a:lstStyle/>
          <a:p>
            <a:pPr algn="ctr"/>
            <a:r>
              <a:rPr sz="1500" b="1" i="0">
                <a:solidFill>
                  <a:srgbClr val="FFFFFF"/>
                </a:solidFill>
                <a:latin typeface="Calibri"/>
              </a:rPr>
              <a:t>range-guard.vercel.app    ·    github.com/garykocsis/RangeGuard</a:t>
            </a:r>
          </a:p>
        </p:txBody>
      </p:sp>
      <p:sp>
        <p:nvSpPr>
          <p:cNvPr id="18" name="TextBox 17"/>
          <p:cNvSpPr txBox="1"/>
          <p:nvPr/>
        </p:nvSpPr>
        <p:spPr>
          <a:xfrm>
            <a:off x="914400" y="6035040"/>
            <a:ext cx="10360152" cy="320040"/>
          </a:xfrm>
          <a:prstGeom prst="rect">
            <a:avLst/>
          </a:prstGeom>
          <a:noFill/>
        </p:spPr>
        <p:txBody>
          <a:bodyPr wrap="square" anchor="ctr" lIns="0" rIns="0" tIns="0" bIns="0">
            <a:spAutoFit/>
          </a:bodyPr>
          <a:lstStyle/>
          <a:p>
            <a:pPr algn="ctr"/>
            <a:r>
              <a:rPr sz="1300" b="0" i="0">
                <a:solidFill>
                  <a:srgbClr val="94A3B8"/>
                </a:solidFill>
                <a:latin typeface="Calibri"/>
              </a:rPr>
              <a:t>Built on Uniswap v4   ·   Powered by Reactive Network   ·   Deployed on Sepolia</a:t>
            </a:r>
          </a:p>
        </p:txBody>
      </p:sp>
      <p:sp>
        <p:nvSpPr>
          <p:cNvPr id="19" name="TextBox 18"/>
          <p:cNvSpPr txBox="1"/>
          <p:nvPr/>
        </p:nvSpPr>
        <p:spPr>
          <a:xfrm>
            <a:off x="914400" y="6382512"/>
            <a:ext cx="10360152" cy="292608"/>
          </a:xfrm>
          <a:prstGeom prst="rect">
            <a:avLst/>
          </a:prstGeom>
          <a:noFill/>
        </p:spPr>
        <p:txBody>
          <a:bodyPr wrap="square" anchor="ctr" lIns="0" rIns="0" tIns="0" bIns="0">
            <a:spAutoFit/>
          </a:bodyPr>
          <a:lstStyle/>
          <a:p>
            <a:pPr algn="ctr"/>
            <a:r>
              <a:rPr sz="1200" b="0" i="0">
                <a:solidFill>
                  <a:srgbClr val="94A3B8"/>
                </a:solidFill>
                <a:latin typeface="Calibri"/>
              </a:rPr>
              <a:t>292 tests passing   ·   Fuzz tested   ·   Invariant tested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