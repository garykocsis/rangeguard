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Hello everyone, my name is Gary Kocsis, and I'm excited to present RangeGuard — Protect your liquidity. Guard your range. Impermanent loss is the single biggest reason liquidity providers leave AMMs. Even with fee rewards, most LPs lose money when prices move — and there's no native, on-chain way to protect them. Until now.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RangeGuard brings native IL coverage directly into a Uniswap v4 pool. Coverage accrues only while the position is in range — you earn protection only when you're exposed to IL risk. The buffer is funded by a small portion of every swap fee — sustainable, no external subsidies. On withdrawal, the hook computes impermanent loss and pays out automatically — capped and settled on-chain. And it runs autonomously via the Reactive Network — cross-chain automation, no keeper bots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economics are self-sustaining. LPs provide liquidity, traders use the pool, swaps generate fees, a buffer slice is</a:t>
            </a:r>
            <a:br>
              <a:rPr lang="en-US"/>
            </a:br>
            <a:r>
              <a:rPr lang="en-US"/>
              <a:t>skimmed that funds the coverage buffer, and the buffer pays capped IL claims.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buffer grows from the same swap activity that LP liquidity enables. No external capital required.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Five pillars drive the system. The key </a:t>
            </a:r>
            <a:r>
              <a:rPr lang="en-US"/>
              <a:t>differentiator</a:t>
            </a:r>
            <a:r>
              <a:rPr lang="en-US"/>
              <a:t> for RangeGuard I believe is the LP transparency -  which is a verifiable coverage statement from pure on-chain events.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Let me show you the core functions that make this work.</a:t>
            </a:r>
            <a:endParaRPr/>
          </a:p>
        </p:txBody>
      </p:sp>
      <p:sp>
        <p:nvSpPr>
          <p:cNvPr id="141" name="Google Shape;14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Here's the core code path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Let me highlight 2 functions.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First is accrue()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trike="sngStrike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— if the tick is outside the LP's bounds, </a:t>
            </a:r>
            <a:r>
              <a:rPr lang="en-US">
                <a:solidFill>
                  <a:schemeClr val="dk1"/>
                </a:solidFill>
              </a:rPr>
              <a:t>no coverage accumulates </a:t>
            </a:r>
            <a:r>
              <a:rPr lang="en-US">
                <a:solidFill>
                  <a:schemeClr val="dk1"/>
                </a:solidFill>
              </a:rPr>
              <a:t> If in range, we convert elapsed seconds to a year fraction using Actual/365 Fixed day-count math </a:t>
            </a:r>
            <a:r>
              <a:rPr lang="en-US">
                <a:solidFill>
                  <a:schemeClr val="dk1"/>
                </a:solidFill>
              </a:rPr>
              <a:t>another differentiator.  </a:t>
            </a:r>
            <a:r>
              <a:rPr lang="en-US">
                <a:solidFill>
                  <a:schemeClr val="dk1"/>
                </a:solidFill>
              </a:rPr>
              <a:t>It is the same convention used in fixed-income finance.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_compute_Payout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Three caps applied in order — IL cap, earned coverage cap, buffer cap. Payout is the minimum of all three. The limiting factor is recorded — so the LP knows exactly which cap constrained their payout and why. Full transparency, on-chain.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Let’s see it live  </a:t>
            </a:r>
            <a:endParaRPr strike="sngStrike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2" name="Google Shape;19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"RangeGuard makes IL coverage predictable, auditable, and self-sustaining."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It makes providing liquidity safer, more transparent, and more attractive — helping Uniswap pools retain and grow their LP base.. Earned over time. Funded by swaps. Settled on-chain.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-icon.png" id="86" name="Google Shape;8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10047" y="914400"/>
            <a:ext cx="1371600" cy="13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914400" y="2487168"/>
            <a:ext cx="1036015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RangeGuard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914400" y="3456432"/>
            <a:ext cx="1036015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Protect your liquidity. Guard your range.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914400" y="4224528"/>
            <a:ext cx="1036015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Gary Kocsis</a:t>
            </a:r>
            <a:endParaRPr/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Uniswap Hook Incubator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082453" y="5646420"/>
            <a:ext cx="782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Built on</a:t>
            </a:r>
            <a:endParaRPr/>
          </a:p>
        </p:txBody>
      </p:sp>
      <p:pic>
        <p:nvPicPr>
          <p:cNvPr descr="uniswap-logo.png" id="91" name="Google Shape;9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74501" y="56509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 txBox="1"/>
          <p:nvPr/>
        </p:nvSpPr>
        <p:spPr>
          <a:xfrm>
            <a:off x="5486565" y="5600700"/>
            <a:ext cx="23317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·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5829465" y="5646420"/>
            <a:ext cx="94589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Powered by</a:t>
            </a:r>
            <a:endParaRPr/>
          </a:p>
        </p:txBody>
      </p:sp>
      <p:pic>
        <p:nvPicPr>
          <p:cNvPr descr="reactive-logo.png" id="94" name="Google Shape;9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85089" y="5669279"/>
            <a:ext cx="1224153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841248" y="420624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THE SOLUTION</a:t>
            </a:r>
            <a:endParaRPr/>
          </a:p>
        </p:txBody>
      </p:sp>
      <p:pic>
        <p:nvPicPr>
          <p:cNvPr descr="logo-icon.png"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657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914400" y="960120"/>
            <a:ext cx="10360152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RangeGuard turns impermanent loss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into an earned, capped, on-chain claim.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371600" y="2331720"/>
            <a:ext cx="9601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Coverage accrues only while in range —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 exposure-weighted, not time-weighted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1371600" y="3081527"/>
            <a:ext cx="9601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Day-count convention (Actual/365 Fixed) —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 predictable, auditable, comparable across pools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371600" y="3831335"/>
            <a:ext cx="9601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Buffer funded by dynamic fee skimming —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 sustainable, no external subsidies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1371600" y="4581144"/>
            <a:ext cx="9601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Automatic payout on withdrawal —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 capped by earned coverage, buffer health, and protocol params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1371600" y="5330952"/>
            <a:ext cx="9601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Reactive Network integration —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 range transitions detected cross-chain, no keepers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914400" y="6263640"/>
            <a:ext cx="1036015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9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“Protect your liquidity. Guard your range.”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841248" y="420624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THE SOLUTION</a:t>
            </a:r>
            <a:endParaRPr/>
          </a:p>
        </p:txBody>
      </p:sp>
      <p:pic>
        <p:nvPicPr>
          <p:cNvPr descr="logo-icon.png" id="117" name="Google Shape;11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657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914400" y="868680"/>
            <a:ext cx="103601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Self-Funding by Design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960120" y="2057400"/>
            <a:ext cx="3063240" cy="96012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960120" y="2057400"/>
            <a:ext cx="30632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LPs provide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liquidity</a:t>
            </a:r>
            <a:endParaRPr/>
          </a:p>
        </p:txBody>
      </p:sp>
      <p:sp>
        <p:nvSpPr>
          <p:cNvPr id="121" name="Google Shape;121;p15"/>
          <p:cNvSpPr/>
          <p:nvPr/>
        </p:nvSpPr>
        <p:spPr>
          <a:xfrm>
            <a:off x="960120" y="3977639"/>
            <a:ext cx="3063240" cy="96012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960120" y="3977639"/>
            <a:ext cx="30632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LPs are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protected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4562856" y="2057400"/>
            <a:ext cx="3063240" cy="96012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4562856" y="2057400"/>
            <a:ext cx="30632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Traders use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pool</a:t>
            </a:r>
            <a:endParaRPr/>
          </a:p>
        </p:txBody>
      </p:sp>
      <p:sp>
        <p:nvSpPr>
          <p:cNvPr id="125" name="Google Shape;125;p15"/>
          <p:cNvSpPr/>
          <p:nvPr/>
        </p:nvSpPr>
        <p:spPr>
          <a:xfrm>
            <a:off x="4562856" y="3977639"/>
            <a:ext cx="3063240" cy="96012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00D3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4562856" y="3977639"/>
            <a:ext cx="30632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Buffer pays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capped IL</a:t>
            </a:r>
            <a:endParaRPr/>
          </a:p>
        </p:txBody>
      </p:sp>
      <p:sp>
        <p:nvSpPr>
          <p:cNvPr id="127" name="Google Shape;127;p15"/>
          <p:cNvSpPr/>
          <p:nvPr/>
        </p:nvSpPr>
        <p:spPr>
          <a:xfrm>
            <a:off x="8165592" y="2057400"/>
            <a:ext cx="3063240" cy="96012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8165592" y="2057400"/>
            <a:ext cx="30632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Swaps generate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fees</a:t>
            </a:r>
            <a:endParaRPr/>
          </a:p>
        </p:txBody>
      </p:sp>
      <p:sp>
        <p:nvSpPr>
          <p:cNvPr id="129" name="Google Shape;129;p15"/>
          <p:cNvSpPr/>
          <p:nvPr/>
        </p:nvSpPr>
        <p:spPr>
          <a:xfrm>
            <a:off x="8165592" y="3977639"/>
            <a:ext cx="3063240" cy="96012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00D3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8165592" y="3977639"/>
            <a:ext cx="30632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Buffer slice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skimmed</a:t>
            </a:r>
            <a:endParaRPr/>
          </a:p>
        </p:txBody>
      </p:sp>
      <p:sp>
        <p:nvSpPr>
          <p:cNvPr id="131" name="Google Shape;131;p15"/>
          <p:cNvSpPr/>
          <p:nvPr/>
        </p:nvSpPr>
        <p:spPr>
          <a:xfrm>
            <a:off x="4069080" y="2372868"/>
            <a:ext cx="448055" cy="32918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D3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/>
          <p:nvPr/>
        </p:nvSpPr>
        <p:spPr>
          <a:xfrm>
            <a:off x="7671816" y="2372868"/>
            <a:ext cx="448055" cy="32918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D3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/>
          <p:nvPr/>
        </p:nvSpPr>
        <p:spPr>
          <a:xfrm>
            <a:off x="4069080" y="4293108"/>
            <a:ext cx="448055" cy="329184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00D3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7671816" y="4293108"/>
            <a:ext cx="448055" cy="329184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00D3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5"/>
          <p:cNvSpPr/>
          <p:nvPr/>
        </p:nvSpPr>
        <p:spPr>
          <a:xfrm>
            <a:off x="9532620" y="3072384"/>
            <a:ext cx="329184" cy="850391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D3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/>
          <p:nvPr/>
        </p:nvSpPr>
        <p:spPr>
          <a:xfrm>
            <a:off x="2327148" y="3072384"/>
            <a:ext cx="329184" cy="850391"/>
          </a:xfrm>
          <a:prstGeom prst="upArrow">
            <a:avLst>
              <a:gd fmla="val 50000" name="adj1"/>
              <a:gd fmla="val 50000" name="adj2"/>
            </a:avLst>
          </a:prstGeom>
          <a:solidFill>
            <a:srgbClr val="00D3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914400" y="6126480"/>
            <a:ext cx="1036015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Swap activity funds the buffer that protects LPs.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 txBox="1"/>
          <p:nvPr/>
        </p:nvSpPr>
        <p:spPr>
          <a:xfrm>
            <a:off x="841248" y="420624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THE SOLUTION</a:t>
            </a:r>
            <a:endParaRPr/>
          </a:p>
        </p:txBody>
      </p:sp>
      <p:pic>
        <p:nvPicPr>
          <p:cNvPr descr="logo-icon.png" id="145" name="Google Shape;14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657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/>
          <p:nvPr/>
        </p:nvSpPr>
        <p:spPr>
          <a:xfrm>
            <a:off x="914400" y="868680"/>
            <a:ext cx="103601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RangeGuard Works: Five Pillars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1005840" y="1645920"/>
            <a:ext cx="6400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1645920" y="1645920"/>
            <a:ext cx="960120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Accrual Gating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Coverage accrues only while the position is in range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1005840" y="2468880"/>
            <a:ext cx="6400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1645920" y="2468880"/>
            <a:ext cx="960120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Buffer Funding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 portion of every swap fee funds the coverage buffer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1005840" y="3291840"/>
            <a:ext cx="640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1645920" y="3291840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Claim Settlement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IL computed and paid automatically on withdrawal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Payout = min(covered IL, earned coverage, buffer cap)</a:t>
            </a:r>
            <a:endParaRPr/>
          </a:p>
        </p:txBody>
      </p:sp>
      <p:sp>
        <p:nvSpPr>
          <p:cNvPr id="153" name="Google Shape;153;p16"/>
          <p:cNvSpPr/>
          <p:nvPr/>
        </p:nvSpPr>
        <p:spPr>
          <a:xfrm>
            <a:off x="777240" y="4279392"/>
            <a:ext cx="10634472" cy="1024128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00D3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 txBox="1"/>
          <p:nvPr/>
        </p:nvSpPr>
        <p:spPr>
          <a:xfrm>
            <a:off x="1005840" y="4352544"/>
            <a:ext cx="640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1645920" y="4352544"/>
            <a:ext cx="9601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LP Transparency  ★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 verifiable, day-by-day coverage report —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built entirely from on-chain events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1005840" y="5413248"/>
            <a:ext cx="64008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1645920" y="5413248"/>
            <a:ext cx="9601200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Pool Configuration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Immutable parameters set once at pool initialization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914400" y="6263640"/>
            <a:ext cx="1036015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Every pillar is enforced on-chain. No off-chain assumptions.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841248" y="420624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UNDER THE HOOD</a:t>
            </a:r>
            <a:endParaRPr/>
          </a:p>
        </p:txBody>
      </p:sp>
      <p:pic>
        <p:nvPicPr>
          <p:cNvPr descr="logo-icon.png" id="166" name="Google Shape;16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657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7"/>
          <p:cNvSpPr txBox="1"/>
          <p:nvPr/>
        </p:nvSpPr>
        <p:spPr>
          <a:xfrm>
            <a:off x="914400" y="868680"/>
            <a:ext cx="103601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Coverage Becomes a Claim</a:t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502920" y="2011680"/>
            <a:ext cx="1627632" cy="86868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00D3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502920" y="2011680"/>
            <a:ext cx="1627632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LP Deposits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2089404" y="22174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2414015" y="2011680"/>
            <a:ext cx="1627632" cy="86868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00D3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2414015" y="2011680"/>
            <a:ext cx="1627632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_accrue()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4000500" y="22174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74" name="Google Shape;174;p17"/>
          <p:cNvSpPr/>
          <p:nvPr/>
        </p:nvSpPr>
        <p:spPr>
          <a:xfrm>
            <a:off x="4325112" y="2011680"/>
            <a:ext cx="1627632" cy="86868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00D3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"/>
          <p:cNvSpPr txBox="1"/>
          <p:nvPr/>
        </p:nvSpPr>
        <p:spPr>
          <a:xfrm>
            <a:off x="4325112" y="2011680"/>
            <a:ext cx="1627632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afterSwap()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5911596" y="22174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77" name="Google Shape;177;p17"/>
          <p:cNvSpPr/>
          <p:nvPr/>
        </p:nvSpPr>
        <p:spPr>
          <a:xfrm>
            <a:off x="6236207" y="2011680"/>
            <a:ext cx="1627632" cy="86868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00D3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6236207" y="2011680"/>
            <a:ext cx="1627632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_computeIL()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7822692" y="22174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8147304" y="2011680"/>
            <a:ext cx="1627632" cy="86868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00D3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7"/>
          <p:cNvSpPr txBox="1"/>
          <p:nvPr/>
        </p:nvSpPr>
        <p:spPr>
          <a:xfrm>
            <a:off x="8147304" y="2011680"/>
            <a:ext cx="1627632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_computePayout()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9733788" y="22174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83" name="Google Shape;183;p17"/>
          <p:cNvSpPr/>
          <p:nvPr/>
        </p:nvSpPr>
        <p:spPr>
          <a:xfrm>
            <a:off x="10058400" y="2011680"/>
            <a:ext cx="1627632" cy="86868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00D3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7"/>
          <p:cNvSpPr txBox="1"/>
          <p:nvPr/>
        </p:nvSpPr>
        <p:spPr>
          <a:xfrm>
            <a:off x="10058400" y="2011680"/>
            <a:ext cx="1627632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ClaimSettled</a:t>
            </a:r>
            <a:endParaRPr/>
          </a:p>
        </p:txBody>
      </p:sp>
      <p:sp>
        <p:nvSpPr>
          <p:cNvPr id="185" name="Google Shape;185;p17"/>
          <p:cNvSpPr/>
          <p:nvPr/>
        </p:nvSpPr>
        <p:spPr>
          <a:xfrm>
            <a:off x="777240" y="3611880"/>
            <a:ext cx="5120640" cy="178308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7"/>
          <p:cNvSpPr txBox="1"/>
          <p:nvPr/>
        </p:nvSpPr>
        <p:spPr>
          <a:xfrm>
            <a:off x="1051560" y="3840480"/>
            <a:ext cx="4617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⚡  Swaps never iterate positions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Accrual is lazy, position-specific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O(1) gas on every swap</a:t>
            </a:r>
            <a:endParaRPr/>
          </a:p>
        </p:txBody>
      </p:sp>
      <p:sp>
        <p:nvSpPr>
          <p:cNvPr id="187" name="Google Shape;187;p17"/>
          <p:cNvSpPr/>
          <p:nvPr/>
        </p:nvSpPr>
        <p:spPr>
          <a:xfrm>
            <a:off x="6172200" y="3611880"/>
            <a:ext cx="5212080" cy="178308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 cap="flat" cmpd="sng" w="254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6446520" y="3840480"/>
            <a:ext cx="475488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⚡  Actual/365 Fixed day-count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Coverage = Notional × APR × (days ÷ 365)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Same convention as fixed-income finance</a:t>
            </a:r>
            <a:endParaRPr/>
          </a:p>
        </p:txBody>
      </p:sp>
      <p:sp>
        <p:nvSpPr>
          <p:cNvPr id="189" name="Google Shape;189;p17"/>
          <p:cNvSpPr txBox="1"/>
          <p:nvPr/>
        </p:nvSpPr>
        <p:spPr>
          <a:xfrm>
            <a:off x="914400" y="5852160"/>
            <a:ext cx="1036015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One lifecycle. Fully on-chain. No off-chain assumptions.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-icon.png" id="196" name="Google Shape;19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65979" y="265176"/>
            <a:ext cx="475488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8"/>
          <p:cNvSpPr txBox="1"/>
          <p:nvPr/>
        </p:nvSpPr>
        <p:spPr>
          <a:xfrm>
            <a:off x="5451195" y="274320"/>
            <a:ext cx="187451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RangeGuard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914400" y="868680"/>
            <a:ext cx="1036015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“Protect your liquidity. Guard your range.”</a:t>
            </a:r>
            <a:endParaRPr/>
          </a:p>
        </p:txBody>
      </p:sp>
      <p:sp>
        <p:nvSpPr>
          <p:cNvPr id="199" name="Google Shape;199;p18"/>
          <p:cNvSpPr txBox="1"/>
          <p:nvPr/>
        </p:nvSpPr>
        <p:spPr>
          <a:xfrm>
            <a:off x="2103120" y="150876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Native IL coverage — built into the pool, not bolted 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Self-funding buffer — swap fees cover the claims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Capped payouts — actuarially sound, buffer protected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Fully auditable — every accrual verifiable on-chain</a:t>
            </a:r>
            <a:endParaRPr/>
          </a:p>
        </p:txBody>
      </p:sp>
      <p:sp>
        <p:nvSpPr>
          <p:cNvPr id="200" name="Google Shape;200;p18"/>
          <p:cNvSpPr/>
          <p:nvPr/>
        </p:nvSpPr>
        <p:spPr>
          <a:xfrm>
            <a:off x="1554480" y="2743200"/>
            <a:ext cx="9079992" cy="1463040"/>
          </a:xfrm>
          <a:prstGeom prst="roundRect">
            <a:avLst>
              <a:gd fmla="val 8000" name="adj"/>
            </a:avLst>
          </a:prstGeom>
          <a:solidFill>
            <a:srgbClr val="1E2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8"/>
          <p:cNvSpPr txBox="1"/>
          <p:nvPr/>
        </p:nvSpPr>
        <p:spPr>
          <a:xfrm>
            <a:off x="1874519" y="2852928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Who Benefits</a:t>
            </a:r>
            <a:endParaRPr/>
          </a:p>
        </p:txBody>
      </p:sp>
      <p:sp>
        <p:nvSpPr>
          <p:cNvPr id="202" name="Google Shape;202;p18"/>
          <p:cNvSpPr txBox="1"/>
          <p:nvPr/>
        </p:nvSpPr>
        <p:spPr>
          <a:xfrm>
            <a:off x="4937760" y="2852928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Why It Matters</a:t>
            </a:r>
            <a:endParaRPr/>
          </a:p>
        </p:txBody>
      </p:sp>
      <p:sp>
        <p:nvSpPr>
          <p:cNvPr id="203" name="Google Shape;203;p18"/>
          <p:cNvSpPr/>
          <p:nvPr/>
        </p:nvSpPr>
        <p:spPr>
          <a:xfrm>
            <a:off x="1874519" y="3163824"/>
            <a:ext cx="8412480" cy="127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 txBox="1"/>
          <p:nvPr/>
        </p:nvSpPr>
        <p:spPr>
          <a:xfrm>
            <a:off x="1874519" y="3182112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Passive LPs</a:t>
            </a: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4937760" y="3182112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Downside protection without complex hedging</a:t>
            </a:r>
            <a:endParaRPr/>
          </a:p>
        </p:txBody>
      </p:sp>
      <p:sp>
        <p:nvSpPr>
          <p:cNvPr id="206" name="Google Shape;206;p18"/>
          <p:cNvSpPr txBox="1"/>
          <p:nvPr/>
        </p:nvSpPr>
        <p:spPr>
          <a:xfrm>
            <a:off x="1874519" y="3511296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Protocols / DAOs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4937760" y="3511296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Deeper liquidity without reliance on emissions</a:t>
            </a: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1874519" y="384048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Uniswap Ecosystem</a:t>
            </a:r>
            <a:endParaRPr/>
          </a:p>
        </p:txBody>
      </p:sp>
      <p:sp>
        <p:nvSpPr>
          <p:cNvPr id="209" name="Google Shape;209;p18"/>
          <p:cNvSpPr txBox="1"/>
          <p:nvPr/>
        </p:nvSpPr>
        <p:spPr>
          <a:xfrm>
            <a:off x="4937760" y="3840480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Durable liquidity, tighter spreads, better execution</a:t>
            </a:r>
            <a:endParaRPr/>
          </a:p>
        </p:txBody>
      </p:sp>
      <p:sp>
        <p:nvSpPr>
          <p:cNvPr id="210" name="Google Shape;210;p18"/>
          <p:cNvSpPr txBox="1"/>
          <p:nvPr/>
        </p:nvSpPr>
        <p:spPr>
          <a:xfrm>
            <a:off x="914400" y="4370832"/>
            <a:ext cx="1036015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D395"/>
                </a:solidFill>
                <a:latin typeface="Calibri"/>
                <a:ea typeface="Calibri"/>
                <a:cs typeface="Calibri"/>
                <a:sym typeface="Calibri"/>
              </a:rPr>
              <a:t>Earned over time. Funded by swaps. Settled on-chain.</a:t>
            </a:r>
            <a:endParaRPr/>
          </a:p>
        </p:txBody>
      </p:sp>
      <p:sp>
        <p:nvSpPr>
          <p:cNvPr id="211" name="Google Shape;211;p18"/>
          <p:cNvSpPr/>
          <p:nvPr/>
        </p:nvSpPr>
        <p:spPr>
          <a:xfrm>
            <a:off x="4722876" y="4846320"/>
            <a:ext cx="2743200" cy="127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 txBox="1"/>
          <p:nvPr/>
        </p:nvSpPr>
        <p:spPr>
          <a:xfrm>
            <a:off x="914400" y="4956048"/>
            <a:ext cx="103601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🔗  range-guard.vercel.app      ·      github.com/garykocsis/RangeGuard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4227398" y="5474970"/>
            <a:ext cx="735584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Built on</a:t>
            </a:r>
            <a:endParaRPr/>
          </a:p>
        </p:txBody>
      </p:sp>
      <p:pic>
        <p:nvPicPr>
          <p:cNvPr descr="uniswap-logo.png" id="214" name="Google Shape;21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54422" y="5477256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8"/>
          <p:cNvSpPr txBox="1"/>
          <p:nvPr/>
        </p:nvSpPr>
        <p:spPr>
          <a:xfrm>
            <a:off x="5529910" y="5440680"/>
            <a:ext cx="221488" cy="36575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·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5842838" y="5474970"/>
            <a:ext cx="887476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Powered by</a:t>
            </a:r>
            <a:endParaRPr/>
          </a:p>
        </p:txBody>
      </p:sp>
      <p:pic>
        <p:nvPicPr>
          <p:cNvPr descr="reactive-logo.png" id="217" name="Google Shape;21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21754" y="5495544"/>
            <a:ext cx="1142543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8"/>
          <p:cNvSpPr txBox="1"/>
          <p:nvPr/>
        </p:nvSpPr>
        <p:spPr>
          <a:xfrm>
            <a:off x="914400" y="6355080"/>
            <a:ext cx="103601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292 tests passing   ·   Fuzz tested   ·   Invariant tested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